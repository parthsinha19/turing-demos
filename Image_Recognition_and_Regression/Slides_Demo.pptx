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4be8799c963bd62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4be8799c963bd62_3_7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4be8799c963bd62_3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h4be8799c963bd62_3_10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h4be8799c963bd62_3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h4be8799c963bd62_3_12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4be8799c963bd62_3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h4be8799c963bd62_3_14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4be8799c963bd62_3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h4be8799c963bd62_3_16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4be8799c963bd62_3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h4be8799c963bd62_3_18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h4be8799c963bd62_3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h4be8799c963bd62_3_20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h4be8799c963bd62_3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h4be8799c963bd62_3_23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h4be8799c963bd62_3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h4be8799c963bd62_3_25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h4be8799c963bd62_3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h4be8799c963bd62_3_27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4be8799c963bd62_3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h4be8799c963bd62_3_30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4be8799c963bd62_3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h4be8799c963bd62_3_31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A1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480073" y="445770"/>
            <a:ext cx="1611600" cy="260700"/>
          </a:xfrm>
          <a:prstGeom prst="roundRect">
            <a:avLst>
              <a:gd fmla="val 16667" name="adj"/>
            </a:avLst>
          </a:prstGeom>
          <a:solidFill>
            <a:srgbClr val="975CFF"/>
          </a:solidFill>
          <a:ln cap="flat" cmpd="sng" w="9525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514364" y="486918"/>
            <a:ext cx="15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75CFF"/>
                </a:solidFill>
                <a:latin typeface="Arial"/>
                <a:ea typeface="Arial"/>
                <a:cs typeface="Arial"/>
                <a:sym typeface="Arial"/>
              </a:rPr>
              <a:t>YEAR 10 • COMPUTING / AI</a:t>
            </a:r>
            <a:endParaRPr sz="1100"/>
          </a:p>
        </p:txBody>
      </p:sp>
      <p:sp>
        <p:nvSpPr>
          <p:cNvPr id="131" name="Google Shape;131;p25"/>
          <p:cNvSpPr txBox="1"/>
          <p:nvPr/>
        </p:nvSpPr>
        <p:spPr>
          <a:xfrm>
            <a:off x="480073" y="994410"/>
            <a:ext cx="49380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HOW SMART</a:t>
            </a:r>
            <a:br>
              <a:rPr b="1" i="0" lang="en" sz="29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29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IS YOUR AI?</a:t>
            </a:r>
            <a:endParaRPr sz="1100"/>
          </a:p>
        </p:txBody>
      </p:sp>
      <p:sp>
        <p:nvSpPr>
          <p:cNvPr id="132" name="Google Shape;132;p25"/>
          <p:cNvSpPr txBox="1"/>
          <p:nvPr/>
        </p:nvSpPr>
        <p:spPr>
          <a:xfrm>
            <a:off x="493789" y="2503170"/>
            <a:ext cx="4800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Find out how it learns.</a:t>
            </a:r>
            <a:endParaRPr sz="1100"/>
          </a:p>
        </p:txBody>
      </p:sp>
      <p:sp>
        <p:nvSpPr>
          <p:cNvPr id="133" name="Google Shape;133;p25"/>
          <p:cNvSpPr/>
          <p:nvPr/>
        </p:nvSpPr>
        <p:spPr>
          <a:xfrm>
            <a:off x="493789" y="3429000"/>
            <a:ext cx="3977700" cy="65160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651527" y="3552444"/>
            <a:ext cx="116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TODAY'S QUESTION</a:t>
            </a:r>
            <a:endParaRPr sz="1100"/>
          </a:p>
        </p:txBody>
      </p:sp>
      <p:sp>
        <p:nvSpPr>
          <p:cNvPr id="135" name="Google Shape;135;p25"/>
          <p:cNvSpPr txBox="1"/>
          <p:nvPr/>
        </p:nvSpPr>
        <p:spPr>
          <a:xfrm>
            <a:off x="651527" y="3758184"/>
            <a:ext cx="356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Can a machine learn patterns without being told every rule?</a:t>
            </a:r>
            <a:endParaRPr sz="1100"/>
          </a:p>
        </p:txBody>
      </p:sp>
      <p:cxnSp>
        <p:nvCxnSpPr>
          <p:cNvPr id="136" name="Google Shape;136;p25"/>
          <p:cNvCxnSpPr/>
          <p:nvPr/>
        </p:nvCxnSpPr>
        <p:spPr>
          <a:xfrm>
            <a:off x="6172365" y="1714500"/>
            <a:ext cx="548700" cy="480000"/>
          </a:xfrm>
          <a:prstGeom prst="straightConnector1">
            <a:avLst/>
          </a:prstGeom>
          <a:noFill/>
          <a:ln cap="flat" cmpd="sng" w="12700">
            <a:solidFill>
              <a:srgbClr val="3741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37" name="Google Shape;137;p25"/>
          <p:cNvCxnSpPr/>
          <p:nvPr/>
        </p:nvCxnSpPr>
        <p:spPr>
          <a:xfrm>
            <a:off x="6172365" y="1714500"/>
            <a:ext cx="1234500" cy="342900"/>
          </a:xfrm>
          <a:prstGeom prst="straightConnector1">
            <a:avLst/>
          </a:prstGeom>
          <a:noFill/>
          <a:ln cap="flat" cmpd="sng" w="12700">
            <a:solidFill>
              <a:srgbClr val="3741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38" name="Google Shape;138;p25"/>
          <p:cNvCxnSpPr/>
          <p:nvPr/>
        </p:nvCxnSpPr>
        <p:spPr>
          <a:xfrm>
            <a:off x="6172365" y="1714500"/>
            <a:ext cx="754500" cy="1028700"/>
          </a:xfrm>
          <a:prstGeom prst="straightConnector1">
            <a:avLst/>
          </a:prstGeom>
          <a:noFill/>
          <a:ln cap="flat" cmpd="sng" w="12700">
            <a:solidFill>
              <a:srgbClr val="3741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39" name="Google Shape;139;p25"/>
          <p:cNvSpPr/>
          <p:nvPr/>
        </p:nvSpPr>
        <p:spPr>
          <a:xfrm>
            <a:off x="6103783" y="1645920"/>
            <a:ext cx="137100" cy="137100"/>
          </a:xfrm>
          <a:prstGeom prst="ellipse">
            <a:avLst/>
          </a:prstGeom>
          <a:solidFill>
            <a:srgbClr val="32DCFF"/>
          </a:solidFill>
          <a:ln cap="flat" cmpd="sng" w="9525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25"/>
          <p:cNvCxnSpPr/>
          <p:nvPr/>
        </p:nvCxnSpPr>
        <p:spPr>
          <a:xfrm rot="10800000">
            <a:off x="6721083" y="2194440"/>
            <a:ext cx="137100" cy="68700"/>
          </a:xfrm>
          <a:prstGeom prst="straightConnector1">
            <a:avLst/>
          </a:prstGeom>
          <a:noFill/>
          <a:ln cap="flat" cmpd="sng" w="12700">
            <a:solidFill>
              <a:srgbClr val="3741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41" name="Google Shape;141;p25"/>
          <p:cNvCxnSpPr/>
          <p:nvPr/>
        </p:nvCxnSpPr>
        <p:spPr>
          <a:xfrm flipH="1" rot="10800000">
            <a:off x="6858183" y="2057340"/>
            <a:ext cx="548700" cy="205800"/>
          </a:xfrm>
          <a:prstGeom prst="straightConnector1">
            <a:avLst/>
          </a:prstGeom>
          <a:noFill/>
          <a:ln cap="flat" cmpd="sng" w="12700">
            <a:solidFill>
              <a:srgbClr val="3741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42" name="Google Shape;142;p25"/>
          <p:cNvCxnSpPr/>
          <p:nvPr/>
        </p:nvCxnSpPr>
        <p:spPr>
          <a:xfrm>
            <a:off x="6858183" y="2263140"/>
            <a:ext cx="68700" cy="480000"/>
          </a:xfrm>
          <a:prstGeom prst="straightConnector1">
            <a:avLst/>
          </a:prstGeom>
          <a:noFill/>
          <a:ln cap="flat" cmpd="sng" w="12700">
            <a:solidFill>
              <a:srgbClr val="3741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43" name="Google Shape;143;p25"/>
          <p:cNvSpPr/>
          <p:nvPr/>
        </p:nvSpPr>
        <p:spPr>
          <a:xfrm>
            <a:off x="6789601" y="2194559"/>
            <a:ext cx="137100" cy="137100"/>
          </a:xfrm>
          <a:prstGeom prst="ellipse">
            <a:avLst/>
          </a:prstGeom>
          <a:solidFill>
            <a:srgbClr val="975CFF"/>
          </a:solidFill>
          <a:ln cap="flat" cmpd="sng" w="9525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25"/>
          <p:cNvCxnSpPr/>
          <p:nvPr/>
        </p:nvCxnSpPr>
        <p:spPr>
          <a:xfrm flipH="1">
            <a:off x="6721101" y="1783080"/>
            <a:ext cx="822900" cy="411600"/>
          </a:xfrm>
          <a:prstGeom prst="straightConnector1">
            <a:avLst/>
          </a:prstGeom>
          <a:noFill/>
          <a:ln cap="flat" cmpd="sng" w="12700">
            <a:solidFill>
              <a:srgbClr val="3741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45" name="Google Shape;145;p25"/>
          <p:cNvCxnSpPr/>
          <p:nvPr/>
        </p:nvCxnSpPr>
        <p:spPr>
          <a:xfrm flipH="1">
            <a:off x="7406901" y="1783080"/>
            <a:ext cx="137100" cy="274200"/>
          </a:xfrm>
          <a:prstGeom prst="straightConnector1">
            <a:avLst/>
          </a:prstGeom>
          <a:noFill/>
          <a:ln cap="flat" cmpd="sng" w="12700">
            <a:solidFill>
              <a:srgbClr val="3741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46" name="Google Shape;146;p25"/>
          <p:cNvCxnSpPr/>
          <p:nvPr/>
        </p:nvCxnSpPr>
        <p:spPr>
          <a:xfrm flipH="1">
            <a:off x="6926901" y="1783080"/>
            <a:ext cx="617100" cy="960000"/>
          </a:xfrm>
          <a:prstGeom prst="straightConnector1">
            <a:avLst/>
          </a:prstGeom>
          <a:noFill/>
          <a:ln cap="flat" cmpd="sng" w="12700">
            <a:solidFill>
              <a:srgbClr val="3741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47" name="Google Shape;147;p25"/>
          <p:cNvSpPr/>
          <p:nvPr/>
        </p:nvSpPr>
        <p:spPr>
          <a:xfrm>
            <a:off x="7475419" y="1714500"/>
            <a:ext cx="137100" cy="137100"/>
          </a:xfrm>
          <a:prstGeom prst="ellipse">
            <a:avLst/>
          </a:prstGeom>
          <a:solidFill>
            <a:srgbClr val="ACFF59"/>
          </a:solidFill>
          <a:ln cap="flat" cmpd="sng" w="9525">
            <a:solidFill>
              <a:srgbClr val="ACFF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5"/>
          <p:cNvCxnSpPr/>
          <p:nvPr/>
        </p:nvCxnSpPr>
        <p:spPr>
          <a:xfrm rot="10800000">
            <a:off x="6721028" y="2194440"/>
            <a:ext cx="342900" cy="754500"/>
          </a:xfrm>
          <a:prstGeom prst="straightConnector1">
            <a:avLst/>
          </a:prstGeom>
          <a:noFill/>
          <a:ln cap="flat" cmpd="sng" w="12700">
            <a:solidFill>
              <a:srgbClr val="3741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49" name="Google Shape;149;p25"/>
          <p:cNvCxnSpPr/>
          <p:nvPr/>
        </p:nvCxnSpPr>
        <p:spPr>
          <a:xfrm flipH="1" rot="10800000">
            <a:off x="7063928" y="2057340"/>
            <a:ext cx="342900" cy="891600"/>
          </a:xfrm>
          <a:prstGeom prst="straightConnector1">
            <a:avLst/>
          </a:prstGeom>
          <a:noFill/>
          <a:ln cap="flat" cmpd="sng" w="12700">
            <a:solidFill>
              <a:srgbClr val="3741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50" name="Google Shape;150;p25"/>
          <p:cNvCxnSpPr/>
          <p:nvPr/>
        </p:nvCxnSpPr>
        <p:spPr>
          <a:xfrm rot="10800000">
            <a:off x="6926828" y="2743140"/>
            <a:ext cx="137100" cy="205800"/>
          </a:xfrm>
          <a:prstGeom prst="straightConnector1">
            <a:avLst/>
          </a:prstGeom>
          <a:noFill/>
          <a:ln cap="flat" cmpd="sng" w="12700">
            <a:solidFill>
              <a:srgbClr val="3741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51" name="Google Shape;151;p25"/>
          <p:cNvSpPr/>
          <p:nvPr/>
        </p:nvSpPr>
        <p:spPr>
          <a:xfrm>
            <a:off x="6995346" y="2880360"/>
            <a:ext cx="137100" cy="137100"/>
          </a:xfrm>
          <a:prstGeom prst="ellipse">
            <a:avLst/>
          </a:prstGeom>
          <a:solidFill>
            <a:srgbClr val="32DCFF"/>
          </a:solidFill>
          <a:ln cap="flat" cmpd="sng" w="9525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25"/>
          <p:cNvCxnSpPr/>
          <p:nvPr/>
        </p:nvCxnSpPr>
        <p:spPr>
          <a:xfrm rot="10800000">
            <a:off x="6721110" y="2194560"/>
            <a:ext cx="1165800" cy="685800"/>
          </a:xfrm>
          <a:prstGeom prst="straightConnector1">
            <a:avLst/>
          </a:prstGeom>
          <a:noFill/>
          <a:ln cap="flat" cmpd="sng" w="12700">
            <a:solidFill>
              <a:srgbClr val="3741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53" name="Google Shape;153;p25"/>
          <p:cNvCxnSpPr/>
          <p:nvPr/>
        </p:nvCxnSpPr>
        <p:spPr>
          <a:xfrm rot="10800000">
            <a:off x="7406910" y="2057460"/>
            <a:ext cx="480000" cy="822900"/>
          </a:xfrm>
          <a:prstGeom prst="straightConnector1">
            <a:avLst/>
          </a:prstGeom>
          <a:noFill/>
          <a:ln cap="flat" cmpd="sng" w="12700">
            <a:solidFill>
              <a:srgbClr val="3741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54" name="Google Shape;154;p25"/>
          <p:cNvCxnSpPr/>
          <p:nvPr/>
        </p:nvCxnSpPr>
        <p:spPr>
          <a:xfrm rot="10800000">
            <a:off x="6926910" y="2743260"/>
            <a:ext cx="960000" cy="137100"/>
          </a:xfrm>
          <a:prstGeom prst="straightConnector1">
            <a:avLst/>
          </a:prstGeom>
          <a:noFill/>
          <a:ln cap="flat" cmpd="sng" w="12700">
            <a:solidFill>
              <a:srgbClr val="3741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55" name="Google Shape;155;p25"/>
          <p:cNvSpPr/>
          <p:nvPr/>
        </p:nvSpPr>
        <p:spPr>
          <a:xfrm>
            <a:off x="7818328" y="2811780"/>
            <a:ext cx="137100" cy="137100"/>
          </a:xfrm>
          <a:prstGeom prst="ellipse">
            <a:avLst/>
          </a:prstGeom>
          <a:solidFill>
            <a:srgbClr val="975CFF"/>
          </a:solidFill>
          <a:ln cap="flat" cmpd="sng" w="9525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8366983" y="4855464"/>
            <a:ext cx="308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A1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/>
        </p:nvSpPr>
        <p:spPr>
          <a:xfrm>
            <a:off x="445782" y="260604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01 • THE HOOK</a:t>
            </a:r>
            <a:endParaRPr sz="1100"/>
          </a:p>
        </p:txBody>
      </p:sp>
      <p:sp>
        <p:nvSpPr>
          <p:cNvPr id="162" name="Google Shape;162;p26"/>
          <p:cNvSpPr txBox="1"/>
          <p:nvPr/>
        </p:nvSpPr>
        <p:spPr>
          <a:xfrm>
            <a:off x="445782" y="534924"/>
            <a:ext cx="822981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AI is already everywhere.</a:t>
            </a:r>
            <a:endParaRPr sz="1100"/>
          </a:p>
        </p:txBody>
      </p:sp>
      <p:sp>
        <p:nvSpPr>
          <p:cNvPr id="163" name="Google Shape;163;p26"/>
          <p:cNvSpPr txBox="1"/>
          <p:nvPr/>
        </p:nvSpPr>
        <p:spPr>
          <a:xfrm>
            <a:off x="466356" y="1062990"/>
            <a:ext cx="80926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But what is actually happening underneath?</a:t>
            </a:r>
            <a:endParaRPr sz="1100"/>
          </a:p>
        </p:txBody>
      </p:sp>
      <p:sp>
        <p:nvSpPr>
          <p:cNvPr id="164" name="Google Shape;164;p26"/>
          <p:cNvSpPr/>
          <p:nvPr/>
        </p:nvSpPr>
        <p:spPr>
          <a:xfrm>
            <a:off x="480073" y="1714500"/>
            <a:ext cx="2434655" cy="1817370"/>
          </a:xfrm>
          <a:prstGeom prst="roundRect">
            <a:avLst>
              <a:gd fmla="val 16667" name="adj"/>
            </a:avLst>
          </a:prstGeom>
          <a:solidFill>
            <a:srgbClr val="111522"/>
          </a:solidFill>
          <a:ln cap="flat" cmpd="sng" w="9525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651527" y="1933956"/>
            <a:ext cx="2057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TESLA</a:t>
            </a:r>
            <a:endParaRPr sz="1100"/>
          </a:p>
        </p:txBody>
      </p:sp>
      <p:sp>
        <p:nvSpPr>
          <p:cNvPr id="166" name="Google Shape;166;p26"/>
          <p:cNvSpPr txBox="1"/>
          <p:nvPr/>
        </p:nvSpPr>
        <p:spPr>
          <a:xfrm>
            <a:off x="651527" y="2400300"/>
            <a:ext cx="20574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See the road</a:t>
            </a:r>
            <a:br>
              <a:rPr b="1" i="0" lang="en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→ predict what happens next</a:t>
            </a:r>
            <a:endParaRPr sz="1100"/>
          </a:p>
        </p:txBody>
      </p:sp>
      <p:sp>
        <p:nvSpPr>
          <p:cNvPr id="167" name="Google Shape;167;p26"/>
          <p:cNvSpPr/>
          <p:nvPr/>
        </p:nvSpPr>
        <p:spPr>
          <a:xfrm>
            <a:off x="3120473" y="1714500"/>
            <a:ext cx="2434655" cy="1817370"/>
          </a:xfrm>
          <a:prstGeom prst="roundRect">
            <a:avLst>
              <a:gd fmla="val 16667" name="adj"/>
            </a:avLst>
          </a:prstGeom>
          <a:solidFill>
            <a:srgbClr val="111522"/>
          </a:solidFill>
          <a:ln cap="flat" cmpd="sng" w="9525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3291928" y="1933956"/>
            <a:ext cx="20574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975CFF"/>
                </a:solidFill>
                <a:latin typeface="Arial"/>
                <a:ea typeface="Arial"/>
                <a:cs typeface="Arial"/>
                <a:sym typeface="Arial"/>
              </a:rPr>
              <a:t>CHATGPT</a:t>
            </a:r>
            <a:endParaRPr sz="1100"/>
          </a:p>
        </p:txBody>
      </p:sp>
      <p:sp>
        <p:nvSpPr>
          <p:cNvPr id="169" name="Google Shape;169;p26"/>
          <p:cNvSpPr txBox="1"/>
          <p:nvPr/>
        </p:nvSpPr>
        <p:spPr>
          <a:xfrm>
            <a:off x="3291928" y="2400300"/>
            <a:ext cx="20574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Read your text</a:t>
            </a:r>
            <a:br>
              <a:rPr b="1" i="0" lang="en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→ predict what comes next</a:t>
            </a:r>
            <a:endParaRPr sz="1100"/>
          </a:p>
        </p:txBody>
      </p:sp>
      <p:sp>
        <p:nvSpPr>
          <p:cNvPr id="170" name="Google Shape;170;p26"/>
          <p:cNvSpPr/>
          <p:nvPr/>
        </p:nvSpPr>
        <p:spPr>
          <a:xfrm>
            <a:off x="5760874" y="1714500"/>
            <a:ext cx="2434655" cy="1817370"/>
          </a:xfrm>
          <a:prstGeom prst="roundRect">
            <a:avLst>
              <a:gd fmla="val 16667" name="adj"/>
            </a:avLst>
          </a:prstGeom>
          <a:solidFill>
            <a:srgbClr val="111522"/>
          </a:solidFill>
          <a:ln cap="flat" cmpd="sng" w="9525">
            <a:solidFill>
              <a:srgbClr val="ACFF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5932328" y="1933956"/>
            <a:ext cx="20574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ACFF59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endParaRPr sz="1100"/>
          </a:p>
        </p:txBody>
      </p:sp>
      <p:sp>
        <p:nvSpPr>
          <p:cNvPr id="172" name="Google Shape;172;p26"/>
          <p:cNvSpPr txBox="1"/>
          <p:nvPr/>
        </p:nvSpPr>
        <p:spPr>
          <a:xfrm>
            <a:off x="5932328" y="2400300"/>
            <a:ext cx="20574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Give a machine examples</a:t>
            </a:r>
            <a:br>
              <a:rPr b="1" i="0" lang="en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→ see what it learns</a:t>
            </a:r>
            <a:endParaRPr sz="1100"/>
          </a:p>
        </p:txBody>
      </p:sp>
      <p:sp>
        <p:nvSpPr>
          <p:cNvPr id="173" name="Google Shape;173;p26"/>
          <p:cNvSpPr txBox="1"/>
          <p:nvPr/>
        </p:nvSpPr>
        <p:spPr>
          <a:xfrm>
            <a:off x="493789" y="3909060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Same big idea:</a:t>
            </a:r>
            <a:endParaRPr sz="1100"/>
          </a:p>
        </p:txBody>
      </p:sp>
      <p:sp>
        <p:nvSpPr>
          <p:cNvPr id="174" name="Google Shape;174;p26"/>
          <p:cNvSpPr txBox="1"/>
          <p:nvPr/>
        </p:nvSpPr>
        <p:spPr>
          <a:xfrm>
            <a:off x="1611673" y="3854196"/>
            <a:ext cx="54865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DATA  →  PATTERNS  →  PREDICTIONS</a:t>
            </a:r>
            <a:endParaRPr sz="1100"/>
          </a:p>
        </p:txBody>
      </p:sp>
      <p:sp>
        <p:nvSpPr>
          <p:cNvPr id="175" name="Google Shape;175;p26"/>
          <p:cNvSpPr txBox="1"/>
          <p:nvPr/>
        </p:nvSpPr>
        <p:spPr>
          <a:xfrm>
            <a:off x="8366983" y="4855464"/>
            <a:ext cx="3086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A1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/>
        </p:nvSpPr>
        <p:spPr>
          <a:xfrm>
            <a:off x="445782" y="260604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02 • THE IDEA</a:t>
            </a:r>
            <a:endParaRPr sz="1100"/>
          </a:p>
        </p:txBody>
      </p:sp>
      <p:sp>
        <p:nvSpPr>
          <p:cNvPr id="181" name="Google Shape;181;p27"/>
          <p:cNvSpPr txBox="1"/>
          <p:nvPr/>
        </p:nvSpPr>
        <p:spPr>
          <a:xfrm>
            <a:off x="445782" y="534924"/>
            <a:ext cx="822981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Forget the magic.</a:t>
            </a:r>
            <a:endParaRPr sz="1100"/>
          </a:p>
        </p:txBody>
      </p:sp>
      <p:sp>
        <p:nvSpPr>
          <p:cNvPr id="182" name="Google Shape;182;p27"/>
          <p:cNvSpPr txBox="1"/>
          <p:nvPr/>
        </p:nvSpPr>
        <p:spPr>
          <a:xfrm>
            <a:off x="466356" y="1062990"/>
            <a:ext cx="80926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Machine learning is a way of learning patterns from examples.</a:t>
            </a:r>
            <a:endParaRPr sz="1100"/>
          </a:p>
        </p:txBody>
      </p:sp>
      <p:sp>
        <p:nvSpPr>
          <p:cNvPr id="183" name="Google Shape;183;p27"/>
          <p:cNvSpPr/>
          <p:nvPr/>
        </p:nvSpPr>
        <p:spPr>
          <a:xfrm>
            <a:off x="548655" y="2057400"/>
            <a:ext cx="1440218" cy="68580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582946" y="2091690"/>
            <a:ext cx="1371637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1100"/>
          </a:p>
        </p:txBody>
      </p:sp>
      <p:cxnSp>
        <p:nvCxnSpPr>
          <p:cNvPr id="185" name="Google Shape;185;p27"/>
          <p:cNvCxnSpPr/>
          <p:nvPr/>
        </p:nvCxnSpPr>
        <p:spPr>
          <a:xfrm>
            <a:off x="2023164" y="2400300"/>
            <a:ext cx="480073" cy="0"/>
          </a:xfrm>
          <a:prstGeom prst="straightConnector1">
            <a:avLst/>
          </a:prstGeom>
          <a:noFill/>
          <a:ln cap="flat" cmpd="sng" w="25400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6" name="Google Shape;186;p27"/>
          <p:cNvSpPr/>
          <p:nvPr/>
        </p:nvSpPr>
        <p:spPr>
          <a:xfrm>
            <a:off x="2606109" y="2057400"/>
            <a:ext cx="1440218" cy="68580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2640400" y="2091690"/>
            <a:ext cx="1371637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sz="1100"/>
          </a:p>
        </p:txBody>
      </p:sp>
      <p:cxnSp>
        <p:nvCxnSpPr>
          <p:cNvPr id="188" name="Google Shape;188;p27"/>
          <p:cNvCxnSpPr/>
          <p:nvPr/>
        </p:nvCxnSpPr>
        <p:spPr>
          <a:xfrm>
            <a:off x="4080618" y="2400300"/>
            <a:ext cx="480074" cy="0"/>
          </a:xfrm>
          <a:prstGeom prst="straightConnector1">
            <a:avLst/>
          </a:prstGeom>
          <a:noFill/>
          <a:ln cap="flat" cmpd="sng" w="25400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9" name="Google Shape;189;p27"/>
          <p:cNvSpPr/>
          <p:nvPr/>
        </p:nvSpPr>
        <p:spPr>
          <a:xfrm>
            <a:off x="4663564" y="2057400"/>
            <a:ext cx="1440218" cy="68580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ACFF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4697855" y="2091690"/>
            <a:ext cx="1371637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100"/>
          </a:p>
        </p:txBody>
      </p:sp>
      <p:cxnSp>
        <p:nvCxnSpPr>
          <p:cNvPr id="191" name="Google Shape;191;p27"/>
          <p:cNvCxnSpPr/>
          <p:nvPr/>
        </p:nvCxnSpPr>
        <p:spPr>
          <a:xfrm>
            <a:off x="6138073" y="2400300"/>
            <a:ext cx="480074" cy="0"/>
          </a:xfrm>
          <a:prstGeom prst="straightConnector1">
            <a:avLst/>
          </a:prstGeom>
          <a:noFill/>
          <a:ln cap="flat" cmpd="sng" w="25400">
            <a:solidFill>
              <a:srgbClr val="ACFF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2" name="Google Shape;192;p27"/>
          <p:cNvSpPr/>
          <p:nvPr/>
        </p:nvSpPr>
        <p:spPr>
          <a:xfrm>
            <a:off x="6721019" y="2057400"/>
            <a:ext cx="1440218" cy="68580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FF529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6755310" y="2091690"/>
            <a:ext cx="1371637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PREDICT</a:t>
            </a:r>
            <a:endParaRPr sz="1100"/>
          </a:p>
        </p:txBody>
      </p:sp>
      <p:sp>
        <p:nvSpPr>
          <p:cNvPr id="194" name="Google Shape;194;p27"/>
          <p:cNvSpPr txBox="1"/>
          <p:nvPr/>
        </p:nvSpPr>
        <p:spPr>
          <a:xfrm>
            <a:off x="1371637" y="3429000"/>
            <a:ext cx="63781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We don't write every rule.</a:t>
            </a:r>
            <a:endParaRPr sz="1100"/>
          </a:p>
        </p:txBody>
      </p:sp>
      <p:sp>
        <p:nvSpPr>
          <p:cNvPr id="195" name="Google Shape;195;p27"/>
          <p:cNvSpPr txBox="1"/>
          <p:nvPr/>
        </p:nvSpPr>
        <p:spPr>
          <a:xfrm>
            <a:off x="1165891" y="3771900"/>
            <a:ext cx="68581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We give the machine examples and let the model find useful patterns.</a:t>
            </a:r>
            <a:endParaRPr sz="1100"/>
          </a:p>
        </p:txBody>
      </p:sp>
      <p:sp>
        <p:nvSpPr>
          <p:cNvPr id="196" name="Google Shape;196;p27"/>
          <p:cNvSpPr txBox="1"/>
          <p:nvPr/>
        </p:nvSpPr>
        <p:spPr>
          <a:xfrm>
            <a:off x="8366983" y="4855464"/>
            <a:ext cx="3086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A12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/>
          <p:nvPr/>
        </p:nvSpPr>
        <p:spPr>
          <a:xfrm>
            <a:off x="445782" y="260604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03 • MISSION</a:t>
            </a:r>
            <a:endParaRPr sz="1100"/>
          </a:p>
        </p:txBody>
      </p:sp>
      <p:sp>
        <p:nvSpPr>
          <p:cNvPr id="202" name="Google Shape;202;p28"/>
          <p:cNvSpPr txBox="1"/>
          <p:nvPr/>
        </p:nvSpPr>
        <p:spPr>
          <a:xfrm>
            <a:off x="445782" y="534924"/>
            <a:ext cx="822981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You are the AI engineer.</a:t>
            </a:r>
            <a:endParaRPr sz="1100"/>
          </a:p>
        </p:txBody>
      </p:sp>
      <p:sp>
        <p:nvSpPr>
          <p:cNvPr id="203" name="Google Shape;203;p28"/>
          <p:cNvSpPr txBox="1"/>
          <p:nvPr/>
        </p:nvSpPr>
        <p:spPr>
          <a:xfrm>
            <a:off x="466356" y="1062990"/>
            <a:ext cx="80926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Your job: teach a machine something it doesn't already know.</a:t>
            </a:r>
            <a:endParaRPr sz="1100"/>
          </a:p>
        </p:txBody>
      </p:sp>
      <p:sp>
        <p:nvSpPr>
          <p:cNvPr id="204" name="Google Shape;204;p28"/>
          <p:cNvSpPr/>
          <p:nvPr/>
        </p:nvSpPr>
        <p:spPr>
          <a:xfrm>
            <a:off x="548655" y="1680210"/>
            <a:ext cx="8024074" cy="2297430"/>
          </a:xfrm>
          <a:prstGeom prst="roundRect">
            <a:avLst>
              <a:gd fmla="val 16667" name="adj"/>
            </a:avLst>
          </a:prstGeom>
          <a:solidFill>
            <a:srgbClr val="111522"/>
          </a:solidFill>
          <a:ln cap="flat" cmpd="sng" w="9525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788691" y="1933956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975CFF"/>
                </a:solidFill>
                <a:latin typeface="Arial"/>
                <a:ea typeface="Arial"/>
                <a:cs typeface="Arial"/>
                <a:sym typeface="Arial"/>
              </a:rPr>
              <a:t>MISSION 01</a:t>
            </a:r>
            <a:endParaRPr sz="1100"/>
          </a:p>
        </p:txBody>
      </p:sp>
      <p:sp>
        <p:nvSpPr>
          <p:cNvPr id="206" name="Google Shape;206;p28"/>
          <p:cNvSpPr txBox="1"/>
          <p:nvPr/>
        </p:nvSpPr>
        <p:spPr>
          <a:xfrm>
            <a:off x="788691" y="2263140"/>
            <a:ext cx="397774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TEACH A MACHINE</a:t>
            </a:r>
            <a:br>
              <a:rPr b="1" i="0" lang="en" sz="23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23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TO SEE</a:t>
            </a:r>
            <a:endParaRPr sz="1100"/>
          </a:p>
        </p:txBody>
      </p:sp>
      <p:sp>
        <p:nvSpPr>
          <p:cNvPr id="207" name="Google Shape;207;p28"/>
          <p:cNvSpPr txBox="1"/>
          <p:nvPr/>
        </p:nvSpPr>
        <p:spPr>
          <a:xfrm>
            <a:off x="788691" y="3223260"/>
            <a:ext cx="36348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Can it tell a HAND from a FIST?</a:t>
            </a:r>
            <a:endParaRPr sz="1100"/>
          </a:p>
        </p:txBody>
      </p:sp>
      <p:sp>
        <p:nvSpPr>
          <p:cNvPr id="208" name="Google Shape;208;p28"/>
          <p:cNvSpPr/>
          <p:nvPr/>
        </p:nvSpPr>
        <p:spPr>
          <a:xfrm>
            <a:off x="4937892" y="2057400"/>
            <a:ext cx="1371637" cy="106299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8"/>
          <p:cNvSpPr/>
          <p:nvPr/>
        </p:nvSpPr>
        <p:spPr>
          <a:xfrm>
            <a:off x="6515274" y="2057400"/>
            <a:ext cx="1371637" cy="106299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 txBox="1"/>
          <p:nvPr/>
        </p:nvSpPr>
        <p:spPr>
          <a:xfrm>
            <a:off x="4937892" y="2434590"/>
            <a:ext cx="137163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HAND</a:t>
            </a:r>
            <a:endParaRPr sz="1100"/>
          </a:p>
        </p:txBody>
      </p:sp>
      <p:sp>
        <p:nvSpPr>
          <p:cNvPr id="211" name="Google Shape;211;p28"/>
          <p:cNvSpPr txBox="1"/>
          <p:nvPr/>
        </p:nvSpPr>
        <p:spPr>
          <a:xfrm>
            <a:off x="6515274" y="2434590"/>
            <a:ext cx="137163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975CFF"/>
                </a:solidFill>
                <a:latin typeface="Arial"/>
                <a:ea typeface="Arial"/>
                <a:cs typeface="Arial"/>
                <a:sym typeface="Arial"/>
              </a:rPr>
              <a:t>FIST</a:t>
            </a:r>
            <a:endParaRPr sz="1100"/>
          </a:p>
        </p:txBody>
      </p:sp>
      <p:sp>
        <p:nvSpPr>
          <p:cNvPr id="212" name="Google Shape;212;p28"/>
          <p:cNvSpPr txBox="1"/>
          <p:nvPr/>
        </p:nvSpPr>
        <p:spPr>
          <a:xfrm>
            <a:off x="4937892" y="3257550"/>
            <a:ext cx="29490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TRAINING EXAMPLES</a:t>
            </a:r>
            <a:endParaRPr sz="1100"/>
          </a:p>
        </p:txBody>
      </p:sp>
      <p:sp>
        <p:nvSpPr>
          <p:cNvPr id="213" name="Google Shape;213;p28"/>
          <p:cNvSpPr txBox="1"/>
          <p:nvPr/>
        </p:nvSpPr>
        <p:spPr>
          <a:xfrm>
            <a:off x="8366983" y="4855464"/>
            <a:ext cx="3086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A12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/>
          <p:nvPr/>
        </p:nvSpPr>
        <p:spPr>
          <a:xfrm>
            <a:off x="445782" y="260604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04 • MODEL 01</a:t>
            </a:r>
            <a:endParaRPr sz="1100"/>
          </a:p>
        </p:txBody>
      </p:sp>
      <p:sp>
        <p:nvSpPr>
          <p:cNvPr id="219" name="Google Shape;219;p29"/>
          <p:cNvSpPr txBox="1"/>
          <p:nvPr/>
        </p:nvSpPr>
        <p:spPr>
          <a:xfrm>
            <a:off x="445782" y="534924"/>
            <a:ext cx="822981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Train → Test → Predict.</a:t>
            </a:r>
            <a:endParaRPr sz="1100"/>
          </a:p>
        </p:txBody>
      </p:sp>
      <p:sp>
        <p:nvSpPr>
          <p:cNvPr id="220" name="Google Shape;220;p29"/>
          <p:cNvSpPr txBox="1"/>
          <p:nvPr/>
        </p:nvSpPr>
        <p:spPr>
          <a:xfrm>
            <a:off x="466356" y="1062990"/>
            <a:ext cx="80926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The model sees examples first. Then we give it something new.</a:t>
            </a:r>
            <a:endParaRPr sz="1100"/>
          </a:p>
        </p:txBody>
      </p:sp>
      <p:sp>
        <p:nvSpPr>
          <p:cNvPr id="221" name="Google Shape;221;p29"/>
          <p:cNvSpPr/>
          <p:nvPr/>
        </p:nvSpPr>
        <p:spPr>
          <a:xfrm>
            <a:off x="514364" y="1714500"/>
            <a:ext cx="925855" cy="68580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514364" y="1947672"/>
            <a:ext cx="9258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HAND</a:t>
            </a:r>
            <a:endParaRPr sz="1100"/>
          </a:p>
        </p:txBody>
      </p:sp>
      <p:sp>
        <p:nvSpPr>
          <p:cNvPr id="223" name="Google Shape;223;p29"/>
          <p:cNvSpPr/>
          <p:nvPr/>
        </p:nvSpPr>
        <p:spPr>
          <a:xfrm>
            <a:off x="1577382" y="1714500"/>
            <a:ext cx="925855" cy="68580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9"/>
          <p:cNvSpPr txBox="1"/>
          <p:nvPr/>
        </p:nvSpPr>
        <p:spPr>
          <a:xfrm>
            <a:off x="1577382" y="1947672"/>
            <a:ext cx="9258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HAND</a:t>
            </a:r>
            <a:endParaRPr sz="1100"/>
          </a:p>
        </p:txBody>
      </p:sp>
      <p:sp>
        <p:nvSpPr>
          <p:cNvPr id="225" name="Google Shape;225;p29"/>
          <p:cNvSpPr/>
          <p:nvPr/>
        </p:nvSpPr>
        <p:spPr>
          <a:xfrm>
            <a:off x="2640400" y="1714500"/>
            <a:ext cx="925855" cy="68580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2640400" y="1947672"/>
            <a:ext cx="9258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975CFF"/>
                </a:solidFill>
                <a:latin typeface="Arial"/>
                <a:ea typeface="Arial"/>
                <a:cs typeface="Arial"/>
                <a:sym typeface="Arial"/>
              </a:rPr>
              <a:t>FIST</a:t>
            </a:r>
            <a:endParaRPr sz="1100"/>
          </a:p>
        </p:txBody>
      </p:sp>
      <p:sp>
        <p:nvSpPr>
          <p:cNvPr id="227" name="Google Shape;227;p29"/>
          <p:cNvSpPr/>
          <p:nvPr/>
        </p:nvSpPr>
        <p:spPr>
          <a:xfrm>
            <a:off x="514364" y="2640330"/>
            <a:ext cx="925855" cy="68580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9"/>
          <p:cNvSpPr txBox="1"/>
          <p:nvPr/>
        </p:nvSpPr>
        <p:spPr>
          <a:xfrm>
            <a:off x="514364" y="2873502"/>
            <a:ext cx="9258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HAND</a:t>
            </a:r>
            <a:endParaRPr sz="1100"/>
          </a:p>
        </p:txBody>
      </p:sp>
      <p:sp>
        <p:nvSpPr>
          <p:cNvPr id="229" name="Google Shape;229;p29"/>
          <p:cNvSpPr/>
          <p:nvPr/>
        </p:nvSpPr>
        <p:spPr>
          <a:xfrm>
            <a:off x="1577382" y="2640330"/>
            <a:ext cx="925855" cy="68580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9"/>
          <p:cNvSpPr txBox="1"/>
          <p:nvPr/>
        </p:nvSpPr>
        <p:spPr>
          <a:xfrm>
            <a:off x="1577382" y="2873502"/>
            <a:ext cx="9258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975CFF"/>
                </a:solidFill>
                <a:latin typeface="Arial"/>
                <a:ea typeface="Arial"/>
                <a:cs typeface="Arial"/>
                <a:sym typeface="Arial"/>
              </a:rPr>
              <a:t>FIST</a:t>
            </a:r>
            <a:endParaRPr sz="1100"/>
          </a:p>
        </p:txBody>
      </p:sp>
      <p:sp>
        <p:nvSpPr>
          <p:cNvPr id="231" name="Google Shape;231;p29"/>
          <p:cNvSpPr/>
          <p:nvPr/>
        </p:nvSpPr>
        <p:spPr>
          <a:xfrm>
            <a:off x="2640400" y="2640330"/>
            <a:ext cx="925855" cy="68580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2640400" y="2873502"/>
            <a:ext cx="9258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975CFF"/>
                </a:solidFill>
                <a:latin typeface="Arial"/>
                <a:ea typeface="Arial"/>
                <a:cs typeface="Arial"/>
                <a:sym typeface="Arial"/>
              </a:rPr>
              <a:t>FIST</a:t>
            </a:r>
            <a:endParaRPr sz="1100"/>
          </a:p>
        </p:txBody>
      </p:sp>
      <p:sp>
        <p:nvSpPr>
          <p:cNvPr id="233" name="Google Shape;233;p29"/>
          <p:cNvSpPr txBox="1"/>
          <p:nvPr/>
        </p:nvSpPr>
        <p:spPr>
          <a:xfrm>
            <a:off x="534938" y="3600450"/>
            <a:ext cx="27432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TRAINING DATA</a:t>
            </a:r>
            <a:endParaRPr sz="1100"/>
          </a:p>
        </p:txBody>
      </p:sp>
      <p:cxnSp>
        <p:nvCxnSpPr>
          <p:cNvPr id="234" name="Google Shape;234;p29"/>
          <p:cNvCxnSpPr/>
          <p:nvPr/>
        </p:nvCxnSpPr>
        <p:spPr>
          <a:xfrm>
            <a:off x="3429091" y="2434590"/>
            <a:ext cx="685818" cy="0"/>
          </a:xfrm>
          <a:prstGeom prst="straightConnector1">
            <a:avLst/>
          </a:prstGeom>
          <a:noFill/>
          <a:ln cap="flat" cmpd="sng" w="38100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5" name="Google Shape;235;p29"/>
          <p:cNvSpPr/>
          <p:nvPr/>
        </p:nvSpPr>
        <p:spPr>
          <a:xfrm>
            <a:off x="4217782" y="1885950"/>
            <a:ext cx="1371637" cy="113157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ACFF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4252073" y="1920240"/>
            <a:ext cx="1303055" cy="106298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100"/>
          </a:p>
        </p:txBody>
      </p:sp>
      <p:cxnSp>
        <p:nvCxnSpPr>
          <p:cNvPr id="237" name="Google Shape;237;p29"/>
          <p:cNvCxnSpPr/>
          <p:nvPr/>
        </p:nvCxnSpPr>
        <p:spPr>
          <a:xfrm>
            <a:off x="5658001" y="2434590"/>
            <a:ext cx="754400" cy="0"/>
          </a:xfrm>
          <a:prstGeom prst="straightConnector1">
            <a:avLst/>
          </a:prstGeom>
          <a:noFill/>
          <a:ln cap="flat" cmpd="sng" w="38100">
            <a:solidFill>
              <a:srgbClr val="ACFF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8" name="Google Shape;238;p29"/>
          <p:cNvSpPr/>
          <p:nvPr/>
        </p:nvSpPr>
        <p:spPr>
          <a:xfrm>
            <a:off x="6515274" y="1714500"/>
            <a:ext cx="1783128" cy="150876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FF529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9"/>
          <p:cNvSpPr txBox="1"/>
          <p:nvPr/>
        </p:nvSpPr>
        <p:spPr>
          <a:xfrm>
            <a:off x="6515274" y="1988820"/>
            <a:ext cx="178312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NEW IMAGE</a:t>
            </a:r>
            <a:endParaRPr sz="1100"/>
          </a:p>
        </p:txBody>
      </p:sp>
      <p:sp>
        <p:nvSpPr>
          <p:cNvPr id="240" name="Google Shape;240;p29"/>
          <p:cNvSpPr txBox="1"/>
          <p:nvPr/>
        </p:nvSpPr>
        <p:spPr>
          <a:xfrm>
            <a:off x="6515274" y="2400300"/>
            <a:ext cx="178312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FF529D"/>
                </a:solidFill>
                <a:latin typeface="Arial"/>
                <a:ea typeface="Arial"/>
                <a:cs typeface="Arial"/>
                <a:sym typeface="Arial"/>
              </a:rPr>
              <a:t>HAND</a:t>
            </a:r>
            <a:endParaRPr sz="1100"/>
          </a:p>
        </p:txBody>
      </p:sp>
      <p:sp>
        <p:nvSpPr>
          <p:cNvPr id="241" name="Google Shape;241;p29"/>
          <p:cNvSpPr txBox="1"/>
          <p:nvPr/>
        </p:nvSpPr>
        <p:spPr>
          <a:xfrm>
            <a:off x="6515274" y="2846070"/>
            <a:ext cx="178312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 sz="1100"/>
          </a:p>
        </p:txBody>
      </p:sp>
      <p:sp>
        <p:nvSpPr>
          <p:cNvPr id="242" name="Google Shape;242;p29"/>
          <p:cNvSpPr txBox="1"/>
          <p:nvPr/>
        </p:nvSpPr>
        <p:spPr>
          <a:xfrm>
            <a:off x="8366983" y="4855464"/>
            <a:ext cx="3086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A1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 txBox="1"/>
          <p:nvPr/>
        </p:nvSpPr>
        <p:spPr>
          <a:xfrm>
            <a:off x="445782" y="260604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05 • MODEL 01</a:t>
            </a:r>
            <a:endParaRPr sz="1100"/>
          </a:p>
        </p:txBody>
      </p:sp>
      <p:sp>
        <p:nvSpPr>
          <p:cNvPr id="248" name="Google Shape;248;p30"/>
          <p:cNvSpPr txBox="1"/>
          <p:nvPr/>
        </p:nvSpPr>
        <p:spPr>
          <a:xfrm>
            <a:off x="445782" y="534924"/>
            <a:ext cx="822981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Now… BREAK THE AI.</a:t>
            </a:r>
            <a:endParaRPr sz="1100"/>
          </a:p>
        </p:txBody>
      </p:sp>
      <p:sp>
        <p:nvSpPr>
          <p:cNvPr id="249" name="Google Shape;249;p30"/>
          <p:cNvSpPr txBox="1"/>
          <p:nvPr/>
        </p:nvSpPr>
        <p:spPr>
          <a:xfrm>
            <a:off x="466356" y="1062990"/>
            <a:ext cx="80926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What happens when the training data is bad?</a:t>
            </a:r>
            <a:endParaRPr sz="1100"/>
          </a:p>
        </p:txBody>
      </p:sp>
      <p:sp>
        <p:nvSpPr>
          <p:cNvPr id="250" name="Google Shape;250;p30"/>
          <p:cNvSpPr/>
          <p:nvPr/>
        </p:nvSpPr>
        <p:spPr>
          <a:xfrm>
            <a:off x="480073" y="1645920"/>
            <a:ext cx="3909164" cy="2537460"/>
          </a:xfrm>
          <a:prstGeom prst="roundRect">
            <a:avLst>
              <a:gd fmla="val 16667" name="adj"/>
            </a:avLst>
          </a:prstGeom>
          <a:solidFill>
            <a:srgbClr val="111522"/>
          </a:solidFill>
          <a:ln cap="flat" cmpd="sng" w="9525">
            <a:solidFill>
              <a:srgbClr val="FF53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0"/>
          <p:cNvSpPr txBox="1"/>
          <p:nvPr/>
        </p:nvSpPr>
        <p:spPr>
          <a:xfrm>
            <a:off x="685818" y="1906524"/>
            <a:ext cx="329192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5353"/>
                </a:solidFill>
                <a:latin typeface="Arial"/>
                <a:ea typeface="Arial"/>
                <a:cs typeface="Arial"/>
                <a:sym typeface="Arial"/>
              </a:rPr>
              <a:t>BAD TRAINING DATA</a:t>
            </a:r>
            <a:endParaRPr sz="1100"/>
          </a:p>
        </p:txBody>
      </p:sp>
      <p:sp>
        <p:nvSpPr>
          <p:cNvPr id="252" name="Google Shape;252;p30"/>
          <p:cNvSpPr txBox="1"/>
          <p:nvPr/>
        </p:nvSpPr>
        <p:spPr>
          <a:xfrm>
            <a:off x="685818" y="2400300"/>
            <a:ext cx="14402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HAND</a:t>
            </a:r>
            <a:endParaRPr sz="1100"/>
          </a:p>
        </p:txBody>
      </p:sp>
      <p:sp>
        <p:nvSpPr>
          <p:cNvPr id="253" name="Google Shape;253;p30"/>
          <p:cNvSpPr txBox="1"/>
          <p:nvPr/>
        </p:nvSpPr>
        <p:spPr>
          <a:xfrm>
            <a:off x="685818" y="2777490"/>
            <a:ext cx="14402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white backgrounds</a:t>
            </a:r>
            <a:endParaRPr sz="1100"/>
          </a:p>
        </p:txBody>
      </p:sp>
      <p:sp>
        <p:nvSpPr>
          <p:cNvPr id="254" name="Google Shape;254;p30"/>
          <p:cNvSpPr txBox="1"/>
          <p:nvPr/>
        </p:nvSpPr>
        <p:spPr>
          <a:xfrm>
            <a:off x="2606109" y="2400300"/>
            <a:ext cx="14402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975CFF"/>
                </a:solidFill>
                <a:latin typeface="Arial"/>
                <a:ea typeface="Arial"/>
                <a:cs typeface="Arial"/>
                <a:sym typeface="Arial"/>
              </a:rPr>
              <a:t>FIST</a:t>
            </a:r>
            <a:endParaRPr sz="1100"/>
          </a:p>
        </p:txBody>
      </p:sp>
      <p:sp>
        <p:nvSpPr>
          <p:cNvPr id="255" name="Google Shape;255;p30"/>
          <p:cNvSpPr txBox="1"/>
          <p:nvPr/>
        </p:nvSpPr>
        <p:spPr>
          <a:xfrm>
            <a:off x="2606109" y="2777490"/>
            <a:ext cx="14402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dark backgrounds</a:t>
            </a:r>
            <a:endParaRPr sz="1100"/>
          </a:p>
        </p:txBody>
      </p:sp>
      <p:sp>
        <p:nvSpPr>
          <p:cNvPr id="256" name="Google Shape;256;p30"/>
          <p:cNvSpPr txBox="1"/>
          <p:nvPr/>
        </p:nvSpPr>
        <p:spPr>
          <a:xfrm>
            <a:off x="685818" y="3429000"/>
            <a:ext cx="3291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The model might learn the BACKGROUND…</a:t>
            </a:r>
            <a:endParaRPr sz="1100"/>
          </a:p>
        </p:txBody>
      </p:sp>
      <p:cxnSp>
        <p:nvCxnSpPr>
          <p:cNvPr id="257" name="Google Shape;257;p30"/>
          <p:cNvCxnSpPr/>
          <p:nvPr/>
        </p:nvCxnSpPr>
        <p:spPr>
          <a:xfrm>
            <a:off x="4560692" y="2846070"/>
            <a:ext cx="891564" cy="0"/>
          </a:xfrm>
          <a:prstGeom prst="straightConnector1">
            <a:avLst/>
          </a:prstGeom>
          <a:noFill/>
          <a:ln cap="flat" cmpd="sng" w="38100">
            <a:solidFill>
              <a:srgbClr val="FF53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8" name="Google Shape;258;p30"/>
          <p:cNvSpPr/>
          <p:nvPr/>
        </p:nvSpPr>
        <p:spPr>
          <a:xfrm>
            <a:off x="5589419" y="1645920"/>
            <a:ext cx="3017600" cy="2537460"/>
          </a:xfrm>
          <a:prstGeom prst="roundRect">
            <a:avLst>
              <a:gd fmla="val 16667" name="adj"/>
            </a:avLst>
          </a:prstGeom>
          <a:solidFill>
            <a:srgbClr val="111522"/>
          </a:solidFill>
          <a:ln cap="flat" cmpd="sng" w="9525">
            <a:solidFill>
              <a:srgbClr val="ACFF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0"/>
          <p:cNvSpPr txBox="1"/>
          <p:nvPr/>
        </p:nvSpPr>
        <p:spPr>
          <a:xfrm>
            <a:off x="5829455" y="1933956"/>
            <a:ext cx="253752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NEW IMAGE</a:t>
            </a:r>
            <a:endParaRPr sz="1100"/>
          </a:p>
        </p:txBody>
      </p:sp>
      <p:sp>
        <p:nvSpPr>
          <p:cNvPr id="260" name="Google Shape;260;p30"/>
          <p:cNvSpPr txBox="1"/>
          <p:nvPr/>
        </p:nvSpPr>
        <p:spPr>
          <a:xfrm>
            <a:off x="5829455" y="2400300"/>
            <a:ext cx="2537528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ACFF59"/>
                </a:solidFill>
                <a:latin typeface="Arial"/>
                <a:ea typeface="Arial"/>
                <a:cs typeface="Arial"/>
                <a:sym typeface="Arial"/>
              </a:rPr>
              <a:t>HAND</a:t>
            </a:r>
            <a:endParaRPr sz="1100"/>
          </a:p>
        </p:txBody>
      </p:sp>
      <p:sp>
        <p:nvSpPr>
          <p:cNvPr id="261" name="Google Shape;261;p30"/>
          <p:cNvSpPr txBox="1"/>
          <p:nvPr/>
        </p:nvSpPr>
        <p:spPr>
          <a:xfrm>
            <a:off x="5829455" y="3051810"/>
            <a:ext cx="253752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5353"/>
                </a:solidFill>
                <a:latin typeface="Arial"/>
                <a:ea typeface="Arial"/>
                <a:cs typeface="Arial"/>
                <a:sym typeface="Arial"/>
              </a:rPr>
              <a:t>AI says: FIST</a:t>
            </a:r>
            <a:endParaRPr sz="1100"/>
          </a:p>
        </p:txBody>
      </p:sp>
      <p:sp>
        <p:nvSpPr>
          <p:cNvPr id="262" name="Google Shape;262;p30"/>
          <p:cNvSpPr txBox="1"/>
          <p:nvPr/>
        </p:nvSpPr>
        <p:spPr>
          <a:xfrm>
            <a:off x="5829455" y="3566160"/>
            <a:ext cx="253752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What did it actually learn?</a:t>
            </a:r>
            <a:endParaRPr sz="1100"/>
          </a:p>
        </p:txBody>
      </p:sp>
      <p:sp>
        <p:nvSpPr>
          <p:cNvPr id="263" name="Google Shape;263;p30"/>
          <p:cNvSpPr txBox="1"/>
          <p:nvPr/>
        </p:nvSpPr>
        <p:spPr>
          <a:xfrm>
            <a:off x="8366983" y="4855464"/>
            <a:ext cx="3086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A1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/>
        </p:nvSpPr>
        <p:spPr>
          <a:xfrm>
            <a:off x="445782" y="260604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06 • MODEL 02</a:t>
            </a:r>
            <a:endParaRPr sz="1100"/>
          </a:p>
        </p:txBody>
      </p:sp>
      <p:sp>
        <p:nvSpPr>
          <p:cNvPr id="269" name="Google Shape;269;p31"/>
          <p:cNvSpPr txBox="1"/>
          <p:nvPr/>
        </p:nvSpPr>
        <p:spPr>
          <a:xfrm>
            <a:off x="445782" y="534924"/>
            <a:ext cx="8229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5F7FC"/>
                </a:solidFill>
              </a:rPr>
              <a:t>What’s a Predictor</a:t>
            </a:r>
            <a:endParaRPr sz="1100"/>
          </a:p>
        </p:txBody>
      </p:sp>
      <p:sp>
        <p:nvSpPr>
          <p:cNvPr id="270" name="Google Shape;270;p31"/>
          <p:cNvSpPr txBox="1"/>
          <p:nvPr/>
        </p:nvSpPr>
        <p:spPr>
          <a:xfrm>
            <a:off x="466356" y="1062990"/>
            <a:ext cx="80926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Now we move from images to ordinary data.</a:t>
            </a:r>
            <a:endParaRPr sz="1100"/>
          </a:p>
        </p:txBody>
      </p:sp>
      <p:sp>
        <p:nvSpPr>
          <p:cNvPr id="271" name="Google Shape;271;p31"/>
          <p:cNvSpPr/>
          <p:nvPr/>
        </p:nvSpPr>
        <p:spPr>
          <a:xfrm>
            <a:off x="548655" y="1817370"/>
            <a:ext cx="1337346" cy="92583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1"/>
          <p:cNvSpPr txBox="1"/>
          <p:nvPr/>
        </p:nvSpPr>
        <p:spPr>
          <a:xfrm>
            <a:off x="617236" y="1975104"/>
            <a:ext cx="120018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 sz="1100"/>
          </a:p>
        </p:txBody>
      </p:sp>
      <p:sp>
        <p:nvSpPr>
          <p:cNvPr id="273" name="Google Shape;273;p31"/>
          <p:cNvSpPr txBox="1"/>
          <p:nvPr/>
        </p:nvSpPr>
        <p:spPr>
          <a:xfrm>
            <a:off x="617236" y="2249424"/>
            <a:ext cx="1200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100"/>
          </a:p>
        </p:txBody>
      </p:sp>
      <p:sp>
        <p:nvSpPr>
          <p:cNvPr id="274" name="Google Shape;274;p31"/>
          <p:cNvSpPr/>
          <p:nvPr/>
        </p:nvSpPr>
        <p:spPr>
          <a:xfrm>
            <a:off x="2091746" y="1817370"/>
            <a:ext cx="1337346" cy="92583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1"/>
          <p:cNvSpPr txBox="1"/>
          <p:nvPr/>
        </p:nvSpPr>
        <p:spPr>
          <a:xfrm>
            <a:off x="2160328" y="1975104"/>
            <a:ext cx="120018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GAMING / WEEK</a:t>
            </a:r>
            <a:endParaRPr sz="1100"/>
          </a:p>
        </p:txBody>
      </p:sp>
      <p:sp>
        <p:nvSpPr>
          <p:cNvPr id="276" name="Google Shape;276;p31"/>
          <p:cNvSpPr txBox="1"/>
          <p:nvPr/>
        </p:nvSpPr>
        <p:spPr>
          <a:xfrm>
            <a:off x="2160328" y="2249424"/>
            <a:ext cx="1200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8h</a:t>
            </a:r>
            <a:endParaRPr sz="1100"/>
          </a:p>
        </p:txBody>
      </p:sp>
      <p:sp>
        <p:nvSpPr>
          <p:cNvPr id="277" name="Google Shape;277;p31"/>
          <p:cNvSpPr/>
          <p:nvPr/>
        </p:nvSpPr>
        <p:spPr>
          <a:xfrm>
            <a:off x="3634837" y="1817370"/>
            <a:ext cx="1337346" cy="92583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1"/>
          <p:cNvSpPr txBox="1"/>
          <p:nvPr/>
        </p:nvSpPr>
        <p:spPr>
          <a:xfrm>
            <a:off x="3703418" y="1975104"/>
            <a:ext cx="120018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CONSOLE</a:t>
            </a:r>
            <a:endParaRPr sz="1100"/>
          </a:p>
        </p:txBody>
      </p:sp>
      <p:sp>
        <p:nvSpPr>
          <p:cNvPr id="279" name="Google Shape;279;p31"/>
          <p:cNvSpPr txBox="1"/>
          <p:nvPr/>
        </p:nvSpPr>
        <p:spPr>
          <a:xfrm>
            <a:off x="3703418" y="2249424"/>
            <a:ext cx="1200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100"/>
          </a:p>
        </p:txBody>
      </p:sp>
      <p:cxnSp>
        <p:nvCxnSpPr>
          <p:cNvPr id="280" name="Google Shape;280;p31"/>
          <p:cNvCxnSpPr/>
          <p:nvPr/>
        </p:nvCxnSpPr>
        <p:spPr>
          <a:xfrm>
            <a:off x="5246510" y="2297430"/>
            <a:ext cx="617236" cy="0"/>
          </a:xfrm>
          <a:prstGeom prst="straightConnector1">
            <a:avLst/>
          </a:prstGeom>
          <a:noFill/>
          <a:ln cap="flat" cmpd="sng" w="38100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1" name="Google Shape;281;p31"/>
          <p:cNvSpPr/>
          <p:nvPr/>
        </p:nvSpPr>
        <p:spPr>
          <a:xfrm>
            <a:off x="6000910" y="1748790"/>
            <a:ext cx="2503237" cy="113157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ACFF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1"/>
          <p:cNvSpPr txBox="1"/>
          <p:nvPr/>
        </p:nvSpPr>
        <p:spPr>
          <a:xfrm>
            <a:off x="6000910" y="1933956"/>
            <a:ext cx="25032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 sz="1100"/>
          </a:p>
        </p:txBody>
      </p:sp>
      <p:sp>
        <p:nvSpPr>
          <p:cNvPr id="283" name="Google Shape;283;p31"/>
          <p:cNvSpPr txBox="1"/>
          <p:nvPr/>
        </p:nvSpPr>
        <p:spPr>
          <a:xfrm>
            <a:off x="6000910" y="2249424"/>
            <a:ext cx="2503237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ACFF59"/>
                </a:solidFill>
                <a:latin typeface="Arial"/>
                <a:ea typeface="Arial"/>
                <a:cs typeface="Arial"/>
                <a:sym typeface="Arial"/>
              </a:rPr>
              <a:t>BUY GAME</a:t>
            </a:r>
            <a:endParaRPr sz="1100"/>
          </a:p>
        </p:txBody>
      </p:sp>
      <p:sp>
        <p:nvSpPr>
          <p:cNvPr id="284" name="Google Shape;284;p31"/>
          <p:cNvSpPr txBox="1"/>
          <p:nvPr/>
        </p:nvSpPr>
        <p:spPr>
          <a:xfrm>
            <a:off x="685818" y="3566160"/>
            <a:ext cx="7681165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The model looks for patterns in the examples.</a:t>
            </a:r>
            <a:endParaRPr sz="1100"/>
          </a:p>
        </p:txBody>
      </p:sp>
      <p:sp>
        <p:nvSpPr>
          <p:cNvPr id="285" name="Google Shape;285;p31"/>
          <p:cNvSpPr txBox="1"/>
          <p:nvPr/>
        </p:nvSpPr>
        <p:spPr>
          <a:xfrm>
            <a:off x="8366983" y="4855464"/>
            <a:ext cx="3086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A1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2"/>
          <p:cNvSpPr txBox="1"/>
          <p:nvPr/>
        </p:nvSpPr>
        <p:spPr>
          <a:xfrm>
            <a:off x="445782" y="260604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07 • MODEL 02</a:t>
            </a:r>
            <a:endParaRPr sz="1100"/>
          </a:p>
        </p:txBody>
      </p:sp>
      <p:sp>
        <p:nvSpPr>
          <p:cNvPr id="291" name="Google Shape;291;p32"/>
          <p:cNvSpPr txBox="1"/>
          <p:nvPr/>
        </p:nvSpPr>
        <p:spPr>
          <a:xfrm>
            <a:off x="445782" y="534924"/>
            <a:ext cx="822981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What did the model learn?</a:t>
            </a:r>
            <a:endParaRPr sz="1100"/>
          </a:p>
        </p:txBody>
      </p:sp>
      <p:sp>
        <p:nvSpPr>
          <p:cNvPr id="292" name="Google Shape;292;p32"/>
          <p:cNvSpPr txBox="1"/>
          <p:nvPr/>
        </p:nvSpPr>
        <p:spPr>
          <a:xfrm>
            <a:off x="466356" y="1062990"/>
            <a:ext cx="80926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A tiny decision tree can turn examples into a set of useful rules.</a:t>
            </a:r>
            <a:endParaRPr sz="1100"/>
          </a:p>
        </p:txBody>
      </p:sp>
      <p:sp>
        <p:nvSpPr>
          <p:cNvPr id="293" name="Google Shape;293;p32"/>
          <p:cNvSpPr txBox="1"/>
          <p:nvPr/>
        </p:nvSpPr>
        <p:spPr>
          <a:xfrm>
            <a:off x="1097309" y="1680210"/>
            <a:ext cx="1920291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CONSOLE?</a:t>
            </a:r>
            <a:endParaRPr sz="1100"/>
          </a:p>
        </p:txBody>
      </p:sp>
      <p:sp>
        <p:nvSpPr>
          <p:cNvPr id="294" name="Google Shape;294;p32"/>
          <p:cNvSpPr/>
          <p:nvPr/>
        </p:nvSpPr>
        <p:spPr>
          <a:xfrm>
            <a:off x="1817418" y="2023110"/>
            <a:ext cx="205745" cy="205740"/>
          </a:xfrm>
          <a:prstGeom prst="ellipse">
            <a:avLst/>
          </a:prstGeom>
          <a:solidFill>
            <a:srgbClr val="32DCFF"/>
          </a:solidFill>
          <a:ln cap="flat" cmpd="sng" w="9525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32"/>
          <p:cNvCxnSpPr/>
          <p:nvPr/>
        </p:nvCxnSpPr>
        <p:spPr>
          <a:xfrm flipH="1">
            <a:off x="1405927" y="2228850"/>
            <a:ext cx="514364" cy="582929"/>
          </a:xfrm>
          <a:prstGeom prst="straightConnector1">
            <a:avLst/>
          </a:prstGeom>
          <a:noFill/>
          <a:ln cap="flat" cmpd="sng" w="25400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96" name="Google Shape;296;p32"/>
          <p:cNvCxnSpPr/>
          <p:nvPr/>
        </p:nvCxnSpPr>
        <p:spPr>
          <a:xfrm>
            <a:off x="1920291" y="2228850"/>
            <a:ext cx="651527" cy="582929"/>
          </a:xfrm>
          <a:prstGeom prst="straightConnector1">
            <a:avLst/>
          </a:prstGeom>
          <a:noFill/>
          <a:ln cap="flat" cmpd="sng" w="25400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7" name="Google Shape;297;p32"/>
          <p:cNvSpPr txBox="1"/>
          <p:nvPr/>
        </p:nvSpPr>
        <p:spPr>
          <a:xfrm>
            <a:off x="1131600" y="2434590"/>
            <a:ext cx="4114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100"/>
          </a:p>
        </p:txBody>
      </p:sp>
      <p:sp>
        <p:nvSpPr>
          <p:cNvPr id="298" name="Google Shape;298;p32"/>
          <p:cNvSpPr txBox="1"/>
          <p:nvPr/>
        </p:nvSpPr>
        <p:spPr>
          <a:xfrm>
            <a:off x="2366073" y="2434590"/>
            <a:ext cx="4800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100"/>
          </a:p>
        </p:txBody>
      </p:sp>
      <p:sp>
        <p:nvSpPr>
          <p:cNvPr id="299" name="Google Shape;299;p32"/>
          <p:cNvSpPr txBox="1"/>
          <p:nvPr/>
        </p:nvSpPr>
        <p:spPr>
          <a:xfrm>
            <a:off x="857273" y="2914650"/>
            <a:ext cx="109730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5353"/>
                </a:solidFill>
                <a:latin typeface="Arial"/>
                <a:ea typeface="Arial"/>
                <a:cs typeface="Arial"/>
                <a:sym typeface="Arial"/>
              </a:rPr>
              <a:t>DON'T BUY</a:t>
            </a:r>
            <a:endParaRPr sz="1100"/>
          </a:p>
        </p:txBody>
      </p:sp>
      <p:sp>
        <p:nvSpPr>
          <p:cNvPr id="300" name="Google Shape;300;p32"/>
          <p:cNvSpPr txBox="1"/>
          <p:nvPr/>
        </p:nvSpPr>
        <p:spPr>
          <a:xfrm>
            <a:off x="2057455" y="2914650"/>
            <a:ext cx="13030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GAMING &gt; 5h?</a:t>
            </a:r>
            <a:endParaRPr sz="1100"/>
          </a:p>
        </p:txBody>
      </p:sp>
      <p:cxnSp>
        <p:nvCxnSpPr>
          <p:cNvPr id="301" name="Google Shape;301;p32"/>
          <p:cNvCxnSpPr/>
          <p:nvPr/>
        </p:nvCxnSpPr>
        <p:spPr>
          <a:xfrm flipH="1">
            <a:off x="2228909" y="3120390"/>
            <a:ext cx="480073" cy="480060"/>
          </a:xfrm>
          <a:prstGeom prst="straightConnector1">
            <a:avLst/>
          </a:prstGeom>
          <a:noFill/>
          <a:ln cap="flat" cmpd="sng" w="25400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02" name="Google Shape;302;p32"/>
          <p:cNvCxnSpPr/>
          <p:nvPr/>
        </p:nvCxnSpPr>
        <p:spPr>
          <a:xfrm>
            <a:off x="2708982" y="3120390"/>
            <a:ext cx="514364" cy="480060"/>
          </a:xfrm>
          <a:prstGeom prst="straightConnector1">
            <a:avLst/>
          </a:prstGeom>
          <a:noFill/>
          <a:ln cap="flat" cmpd="sng" w="25400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3" name="Google Shape;303;p32"/>
          <p:cNvSpPr txBox="1"/>
          <p:nvPr/>
        </p:nvSpPr>
        <p:spPr>
          <a:xfrm>
            <a:off x="1886000" y="3669030"/>
            <a:ext cx="6858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ACFF59"/>
                </a:solidFill>
                <a:latin typeface="Arial"/>
                <a:ea typeface="Arial"/>
                <a:cs typeface="Arial"/>
                <a:sym typeface="Arial"/>
              </a:rPr>
              <a:t>BUY</a:t>
            </a:r>
            <a:endParaRPr sz="1100"/>
          </a:p>
        </p:txBody>
      </p:sp>
      <p:sp>
        <p:nvSpPr>
          <p:cNvPr id="304" name="Google Shape;304;p32"/>
          <p:cNvSpPr txBox="1"/>
          <p:nvPr/>
        </p:nvSpPr>
        <p:spPr>
          <a:xfrm>
            <a:off x="2880437" y="3669030"/>
            <a:ext cx="102872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5353"/>
                </a:solidFill>
                <a:latin typeface="Arial"/>
                <a:ea typeface="Arial"/>
                <a:cs typeface="Arial"/>
                <a:sym typeface="Arial"/>
              </a:rPr>
              <a:t>DON'T BUY</a:t>
            </a:r>
            <a:endParaRPr sz="1100"/>
          </a:p>
        </p:txBody>
      </p:sp>
      <p:sp>
        <p:nvSpPr>
          <p:cNvPr id="305" name="Google Shape;305;p32"/>
          <p:cNvSpPr/>
          <p:nvPr/>
        </p:nvSpPr>
        <p:spPr>
          <a:xfrm>
            <a:off x="4663564" y="1680210"/>
            <a:ext cx="3806291" cy="2468880"/>
          </a:xfrm>
          <a:prstGeom prst="roundRect">
            <a:avLst>
              <a:gd fmla="val 16667" name="adj"/>
            </a:avLst>
          </a:prstGeom>
          <a:solidFill>
            <a:srgbClr val="111522"/>
          </a:solidFill>
          <a:ln cap="flat" cmpd="sng" w="9525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2"/>
          <p:cNvSpPr txBox="1"/>
          <p:nvPr/>
        </p:nvSpPr>
        <p:spPr>
          <a:xfrm>
            <a:off x="4903601" y="1920240"/>
            <a:ext cx="329192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975CFF"/>
                </a:solidFill>
                <a:latin typeface="Arial"/>
                <a:ea typeface="Arial"/>
                <a:cs typeface="Arial"/>
                <a:sym typeface="Arial"/>
              </a:rPr>
              <a:t>THE IMPORTANT BIT</a:t>
            </a:r>
            <a:endParaRPr sz="1100"/>
          </a:p>
        </p:txBody>
      </p:sp>
      <p:sp>
        <p:nvSpPr>
          <p:cNvPr id="307" name="Google Shape;307;p32"/>
          <p:cNvSpPr txBox="1"/>
          <p:nvPr/>
        </p:nvSpPr>
        <p:spPr>
          <a:xfrm>
            <a:off x="4903601" y="2297430"/>
            <a:ext cx="3223346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It isn't thinking</a:t>
            </a:r>
            <a:br>
              <a:rPr b="1" i="0" lang="en" sz="19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9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like a human.</a:t>
            </a:r>
            <a:endParaRPr sz="1100"/>
          </a:p>
        </p:txBody>
      </p:sp>
      <p:sp>
        <p:nvSpPr>
          <p:cNvPr id="308" name="Google Shape;308;p32"/>
          <p:cNvSpPr txBox="1"/>
          <p:nvPr/>
        </p:nvSpPr>
        <p:spPr>
          <a:xfrm>
            <a:off x="4903601" y="3188970"/>
            <a:ext cx="31890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It is using patterns in the training data to make a prediction.</a:t>
            </a:r>
            <a:endParaRPr sz="1100"/>
          </a:p>
        </p:txBody>
      </p:sp>
      <p:sp>
        <p:nvSpPr>
          <p:cNvPr id="309" name="Google Shape;309;p32"/>
          <p:cNvSpPr txBox="1"/>
          <p:nvPr/>
        </p:nvSpPr>
        <p:spPr>
          <a:xfrm>
            <a:off x="8366983" y="4855464"/>
            <a:ext cx="3086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A12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3"/>
          <p:cNvSpPr txBox="1"/>
          <p:nvPr/>
        </p:nvSpPr>
        <p:spPr>
          <a:xfrm>
            <a:off x="445782" y="260604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08 • SCALE IT UP</a:t>
            </a:r>
            <a:endParaRPr sz="1100"/>
          </a:p>
        </p:txBody>
      </p:sp>
      <p:sp>
        <p:nvSpPr>
          <p:cNvPr id="315" name="Google Shape;315;p33"/>
          <p:cNvSpPr txBox="1"/>
          <p:nvPr/>
        </p:nvSpPr>
        <p:spPr>
          <a:xfrm>
            <a:off x="445782" y="534924"/>
            <a:ext cx="822981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Now imagine doing this millions of times.</a:t>
            </a:r>
            <a:endParaRPr sz="1100"/>
          </a:p>
        </p:txBody>
      </p:sp>
      <p:sp>
        <p:nvSpPr>
          <p:cNvPr id="316" name="Google Shape;316;p33"/>
          <p:cNvSpPr txBox="1"/>
          <p:nvPr/>
        </p:nvSpPr>
        <p:spPr>
          <a:xfrm>
            <a:off x="466356" y="1062990"/>
            <a:ext cx="80926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This is where the flashy real-world AI comes in.</a:t>
            </a:r>
            <a:endParaRPr sz="1100"/>
          </a:p>
        </p:txBody>
      </p:sp>
      <p:sp>
        <p:nvSpPr>
          <p:cNvPr id="317" name="Google Shape;317;p33"/>
          <p:cNvSpPr/>
          <p:nvPr/>
        </p:nvSpPr>
        <p:spPr>
          <a:xfrm>
            <a:off x="514364" y="1645920"/>
            <a:ext cx="3943455" cy="2537460"/>
          </a:xfrm>
          <a:prstGeom prst="roundRect">
            <a:avLst>
              <a:gd fmla="val 16667" name="adj"/>
            </a:avLst>
          </a:prstGeom>
          <a:solidFill>
            <a:srgbClr val="111522"/>
          </a:solidFill>
          <a:ln cap="flat" cmpd="sng" w="9525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3"/>
          <p:cNvSpPr/>
          <p:nvPr/>
        </p:nvSpPr>
        <p:spPr>
          <a:xfrm>
            <a:off x="685818" y="1865376"/>
            <a:ext cx="685818" cy="260604"/>
          </a:xfrm>
          <a:prstGeom prst="roundRect">
            <a:avLst>
              <a:gd fmla="val 16667" name="adj"/>
            </a:avLst>
          </a:prstGeom>
          <a:solidFill>
            <a:srgbClr val="32DCFF"/>
          </a:solidFill>
          <a:ln cap="flat" cmpd="sng" w="9525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3"/>
          <p:cNvSpPr txBox="1"/>
          <p:nvPr/>
        </p:nvSpPr>
        <p:spPr>
          <a:xfrm>
            <a:off x="720109" y="1906524"/>
            <a:ext cx="6172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TESLA</a:t>
            </a:r>
            <a:endParaRPr sz="1100"/>
          </a:p>
        </p:txBody>
      </p:sp>
      <p:sp>
        <p:nvSpPr>
          <p:cNvPr id="320" name="Google Shape;320;p33"/>
          <p:cNvSpPr txBox="1"/>
          <p:nvPr/>
        </p:nvSpPr>
        <p:spPr>
          <a:xfrm>
            <a:off x="685818" y="2434590"/>
            <a:ext cx="9258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CAMERAS</a:t>
            </a:r>
            <a:endParaRPr sz="1100"/>
          </a:p>
        </p:txBody>
      </p:sp>
      <p:sp>
        <p:nvSpPr>
          <p:cNvPr id="321" name="Google Shape;321;p33"/>
          <p:cNvSpPr txBox="1"/>
          <p:nvPr/>
        </p:nvSpPr>
        <p:spPr>
          <a:xfrm>
            <a:off x="1886000" y="2434590"/>
            <a:ext cx="9258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sz="1100"/>
          </a:p>
        </p:txBody>
      </p:sp>
      <p:sp>
        <p:nvSpPr>
          <p:cNvPr id="322" name="Google Shape;322;p33"/>
          <p:cNvSpPr txBox="1"/>
          <p:nvPr/>
        </p:nvSpPr>
        <p:spPr>
          <a:xfrm>
            <a:off x="3120473" y="2434590"/>
            <a:ext cx="9258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 sz="1100"/>
          </a:p>
        </p:txBody>
      </p:sp>
      <p:cxnSp>
        <p:nvCxnSpPr>
          <p:cNvPr id="323" name="Google Shape;323;p33"/>
          <p:cNvCxnSpPr/>
          <p:nvPr/>
        </p:nvCxnSpPr>
        <p:spPr>
          <a:xfrm>
            <a:off x="1645964" y="2551176"/>
            <a:ext cx="171455" cy="0"/>
          </a:xfrm>
          <a:prstGeom prst="straightConnector1">
            <a:avLst/>
          </a:prstGeom>
          <a:noFill/>
          <a:ln cap="flat" cmpd="sng" w="25400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24" name="Google Shape;324;p33"/>
          <p:cNvCxnSpPr/>
          <p:nvPr/>
        </p:nvCxnSpPr>
        <p:spPr>
          <a:xfrm>
            <a:off x="2880437" y="2551176"/>
            <a:ext cx="171455" cy="0"/>
          </a:xfrm>
          <a:prstGeom prst="straightConnector1">
            <a:avLst/>
          </a:prstGeom>
          <a:noFill/>
          <a:ln cap="flat" cmpd="sng" w="25400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5" name="Google Shape;325;p33"/>
          <p:cNvSpPr txBox="1"/>
          <p:nvPr/>
        </p:nvSpPr>
        <p:spPr>
          <a:xfrm>
            <a:off x="720109" y="3257550"/>
            <a:ext cx="34976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Roads • Cars • Pedestrians • Signals</a:t>
            </a:r>
            <a:endParaRPr sz="1100"/>
          </a:p>
        </p:txBody>
      </p:sp>
      <p:sp>
        <p:nvSpPr>
          <p:cNvPr id="326" name="Google Shape;326;p33"/>
          <p:cNvSpPr/>
          <p:nvPr/>
        </p:nvSpPr>
        <p:spPr>
          <a:xfrm>
            <a:off x="4697855" y="1645920"/>
            <a:ext cx="3909164" cy="2537460"/>
          </a:xfrm>
          <a:prstGeom prst="roundRect">
            <a:avLst>
              <a:gd fmla="val 16667" name="adj"/>
            </a:avLst>
          </a:prstGeom>
          <a:solidFill>
            <a:srgbClr val="111522"/>
          </a:solidFill>
          <a:ln cap="flat" cmpd="sng" w="9525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3"/>
          <p:cNvSpPr/>
          <p:nvPr/>
        </p:nvSpPr>
        <p:spPr>
          <a:xfrm>
            <a:off x="4869310" y="1865376"/>
            <a:ext cx="891564" cy="260604"/>
          </a:xfrm>
          <a:prstGeom prst="roundRect">
            <a:avLst>
              <a:gd fmla="val 16667" name="adj"/>
            </a:avLst>
          </a:prstGeom>
          <a:solidFill>
            <a:srgbClr val="975CFF"/>
          </a:solidFill>
          <a:ln cap="flat" cmpd="sng" w="9525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4903600" y="1906524"/>
            <a:ext cx="82298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75CFF"/>
                </a:solidFill>
                <a:latin typeface="Arial"/>
                <a:ea typeface="Arial"/>
                <a:cs typeface="Arial"/>
                <a:sym typeface="Arial"/>
              </a:rPr>
              <a:t>CHATGPT</a:t>
            </a:r>
            <a:endParaRPr sz="1100"/>
          </a:p>
        </p:txBody>
      </p:sp>
      <p:sp>
        <p:nvSpPr>
          <p:cNvPr id="329" name="Google Shape;329;p33"/>
          <p:cNvSpPr txBox="1"/>
          <p:nvPr/>
        </p:nvSpPr>
        <p:spPr>
          <a:xfrm>
            <a:off x="4869310" y="2434590"/>
            <a:ext cx="9258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sz="1100"/>
          </a:p>
        </p:txBody>
      </p:sp>
      <p:sp>
        <p:nvSpPr>
          <p:cNvPr id="330" name="Google Shape;330;p33"/>
          <p:cNvSpPr txBox="1"/>
          <p:nvPr/>
        </p:nvSpPr>
        <p:spPr>
          <a:xfrm>
            <a:off x="6103783" y="2434590"/>
            <a:ext cx="9258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sz="1100"/>
          </a:p>
        </p:txBody>
      </p:sp>
      <p:sp>
        <p:nvSpPr>
          <p:cNvPr id="331" name="Google Shape;331;p33"/>
          <p:cNvSpPr txBox="1"/>
          <p:nvPr/>
        </p:nvSpPr>
        <p:spPr>
          <a:xfrm>
            <a:off x="7372547" y="2434590"/>
            <a:ext cx="9258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NEXT TOKEN</a:t>
            </a:r>
            <a:endParaRPr sz="1100"/>
          </a:p>
        </p:txBody>
      </p:sp>
      <p:cxnSp>
        <p:nvCxnSpPr>
          <p:cNvPr id="332" name="Google Shape;332;p33"/>
          <p:cNvCxnSpPr/>
          <p:nvPr/>
        </p:nvCxnSpPr>
        <p:spPr>
          <a:xfrm>
            <a:off x="5829455" y="2551176"/>
            <a:ext cx="171455" cy="0"/>
          </a:xfrm>
          <a:prstGeom prst="straightConnector1">
            <a:avLst/>
          </a:prstGeom>
          <a:noFill/>
          <a:ln cap="flat" cmpd="sng" w="25400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33" name="Google Shape;333;p33"/>
          <p:cNvCxnSpPr/>
          <p:nvPr/>
        </p:nvCxnSpPr>
        <p:spPr>
          <a:xfrm>
            <a:off x="7029637" y="2551176"/>
            <a:ext cx="240036" cy="0"/>
          </a:xfrm>
          <a:prstGeom prst="straightConnector1">
            <a:avLst/>
          </a:prstGeom>
          <a:noFill/>
          <a:ln cap="flat" cmpd="sng" w="25400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4" name="Google Shape;334;p33"/>
          <p:cNvSpPr txBox="1"/>
          <p:nvPr/>
        </p:nvSpPr>
        <p:spPr>
          <a:xfrm>
            <a:off x="4869310" y="3257550"/>
            <a:ext cx="3497673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Same high-level idea. Vastly different scale and architecture.</a:t>
            </a:r>
            <a:endParaRPr sz="1100"/>
          </a:p>
        </p:txBody>
      </p:sp>
      <p:sp>
        <p:nvSpPr>
          <p:cNvPr id="335" name="Google Shape;335;p33"/>
          <p:cNvSpPr txBox="1"/>
          <p:nvPr/>
        </p:nvSpPr>
        <p:spPr>
          <a:xfrm>
            <a:off x="8366983" y="4855464"/>
            <a:ext cx="3086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A12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/>
          <p:nvPr/>
        </p:nvSpPr>
        <p:spPr>
          <a:xfrm>
            <a:off x="445782" y="260604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09 • CHATGPT</a:t>
            </a:r>
            <a:endParaRPr sz="1100"/>
          </a:p>
        </p:txBody>
      </p:sp>
      <p:sp>
        <p:nvSpPr>
          <p:cNvPr id="341" name="Google Shape;341;p34"/>
          <p:cNvSpPr txBox="1"/>
          <p:nvPr/>
        </p:nvSpPr>
        <p:spPr>
          <a:xfrm>
            <a:off x="445782" y="534924"/>
            <a:ext cx="822981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Can you predict the next word?</a:t>
            </a:r>
            <a:endParaRPr sz="1100"/>
          </a:p>
        </p:txBody>
      </p:sp>
      <p:sp>
        <p:nvSpPr>
          <p:cNvPr id="342" name="Google Shape;342;p34"/>
          <p:cNvSpPr txBox="1"/>
          <p:nvPr/>
        </p:nvSpPr>
        <p:spPr>
          <a:xfrm>
            <a:off x="466356" y="1062990"/>
            <a:ext cx="80926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A classroom version of the idea behind next-token prediction.</a:t>
            </a:r>
            <a:endParaRPr sz="1100"/>
          </a:p>
        </p:txBody>
      </p:sp>
      <p:sp>
        <p:nvSpPr>
          <p:cNvPr id="343" name="Google Shape;343;p34"/>
          <p:cNvSpPr/>
          <p:nvPr/>
        </p:nvSpPr>
        <p:spPr>
          <a:xfrm>
            <a:off x="480073" y="1817370"/>
            <a:ext cx="994437" cy="58293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4"/>
          <p:cNvSpPr txBox="1"/>
          <p:nvPr/>
        </p:nvSpPr>
        <p:spPr>
          <a:xfrm>
            <a:off x="480073" y="1988820"/>
            <a:ext cx="9944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endParaRPr sz="1100"/>
          </a:p>
        </p:txBody>
      </p:sp>
      <p:sp>
        <p:nvSpPr>
          <p:cNvPr id="345" name="Google Shape;345;p34"/>
          <p:cNvSpPr/>
          <p:nvPr/>
        </p:nvSpPr>
        <p:spPr>
          <a:xfrm>
            <a:off x="1680255" y="1817370"/>
            <a:ext cx="994437" cy="58293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4"/>
          <p:cNvSpPr txBox="1"/>
          <p:nvPr/>
        </p:nvSpPr>
        <p:spPr>
          <a:xfrm>
            <a:off x="1680255" y="1988820"/>
            <a:ext cx="9944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dog</a:t>
            </a:r>
            <a:endParaRPr sz="1100"/>
          </a:p>
        </p:txBody>
      </p:sp>
      <p:sp>
        <p:nvSpPr>
          <p:cNvPr id="347" name="Google Shape;347;p34"/>
          <p:cNvSpPr/>
          <p:nvPr/>
        </p:nvSpPr>
        <p:spPr>
          <a:xfrm>
            <a:off x="2880437" y="1817370"/>
            <a:ext cx="994437" cy="58293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4"/>
          <p:cNvSpPr txBox="1"/>
          <p:nvPr/>
        </p:nvSpPr>
        <p:spPr>
          <a:xfrm>
            <a:off x="2880437" y="1988820"/>
            <a:ext cx="9944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ran</a:t>
            </a:r>
            <a:endParaRPr sz="1100"/>
          </a:p>
        </p:txBody>
      </p:sp>
      <p:sp>
        <p:nvSpPr>
          <p:cNvPr id="349" name="Google Shape;349;p34"/>
          <p:cNvSpPr/>
          <p:nvPr/>
        </p:nvSpPr>
        <p:spPr>
          <a:xfrm>
            <a:off x="4080619" y="1817370"/>
            <a:ext cx="994437" cy="58293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4"/>
          <p:cNvSpPr txBox="1"/>
          <p:nvPr/>
        </p:nvSpPr>
        <p:spPr>
          <a:xfrm>
            <a:off x="4080619" y="1988820"/>
            <a:ext cx="9944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across</a:t>
            </a:r>
            <a:endParaRPr sz="1100"/>
          </a:p>
        </p:txBody>
      </p:sp>
      <p:sp>
        <p:nvSpPr>
          <p:cNvPr id="351" name="Google Shape;351;p34"/>
          <p:cNvSpPr/>
          <p:nvPr/>
        </p:nvSpPr>
        <p:spPr>
          <a:xfrm>
            <a:off x="5280801" y="1817370"/>
            <a:ext cx="994437" cy="58293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32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4"/>
          <p:cNvSpPr txBox="1"/>
          <p:nvPr/>
        </p:nvSpPr>
        <p:spPr>
          <a:xfrm>
            <a:off x="5280801" y="1988820"/>
            <a:ext cx="9944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endParaRPr sz="1100"/>
          </a:p>
        </p:txBody>
      </p:sp>
      <p:sp>
        <p:nvSpPr>
          <p:cNvPr id="353" name="Google Shape;353;p34"/>
          <p:cNvSpPr/>
          <p:nvPr/>
        </p:nvSpPr>
        <p:spPr>
          <a:xfrm>
            <a:off x="6480983" y="1817370"/>
            <a:ext cx="1920291" cy="582930"/>
          </a:xfrm>
          <a:prstGeom prst="roundRect">
            <a:avLst>
              <a:gd fmla="val 16667" name="adj"/>
            </a:avLst>
          </a:prstGeom>
          <a:solidFill>
            <a:srgbClr val="181D2E"/>
          </a:solidFill>
          <a:ln cap="flat" cmpd="sng" w="9525">
            <a:solidFill>
              <a:srgbClr val="ACFF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6480983" y="1988820"/>
            <a:ext cx="19202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ACFF59"/>
                </a:solidFill>
                <a:latin typeface="Arial"/>
                <a:ea typeface="Arial"/>
                <a:cs typeface="Arial"/>
                <a:sym typeface="Arial"/>
              </a:rPr>
              <a:t>???</a:t>
            </a:r>
            <a:endParaRPr sz="1100"/>
          </a:p>
        </p:txBody>
      </p:sp>
      <p:sp>
        <p:nvSpPr>
          <p:cNvPr id="355" name="Google Shape;355;p34"/>
          <p:cNvSpPr txBox="1"/>
          <p:nvPr/>
        </p:nvSpPr>
        <p:spPr>
          <a:xfrm>
            <a:off x="685818" y="2914650"/>
            <a:ext cx="15088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road</a:t>
            </a:r>
            <a:endParaRPr sz="1100"/>
          </a:p>
        </p:txBody>
      </p:sp>
      <p:sp>
        <p:nvSpPr>
          <p:cNvPr id="356" name="Google Shape;356;p34"/>
          <p:cNvSpPr txBox="1"/>
          <p:nvPr/>
        </p:nvSpPr>
        <p:spPr>
          <a:xfrm>
            <a:off x="685818" y="3305556"/>
            <a:ext cx="1508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72%</a:t>
            </a:r>
            <a:endParaRPr sz="1100"/>
          </a:p>
        </p:txBody>
      </p:sp>
      <p:sp>
        <p:nvSpPr>
          <p:cNvPr id="357" name="Google Shape;357;p34"/>
          <p:cNvSpPr txBox="1"/>
          <p:nvPr/>
        </p:nvSpPr>
        <p:spPr>
          <a:xfrm>
            <a:off x="2743273" y="2914650"/>
            <a:ext cx="15088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975CFF"/>
                </a:solidFill>
                <a:latin typeface="Arial"/>
                <a:ea typeface="Arial"/>
                <a:cs typeface="Arial"/>
                <a:sym typeface="Arial"/>
              </a:rPr>
              <a:t>moon</a:t>
            </a:r>
            <a:endParaRPr sz="1100"/>
          </a:p>
        </p:txBody>
      </p:sp>
      <p:sp>
        <p:nvSpPr>
          <p:cNvPr id="358" name="Google Shape;358;p34"/>
          <p:cNvSpPr txBox="1"/>
          <p:nvPr/>
        </p:nvSpPr>
        <p:spPr>
          <a:xfrm>
            <a:off x="2743273" y="3305556"/>
            <a:ext cx="1508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  <a:endParaRPr sz="1100"/>
          </a:p>
        </p:txBody>
      </p:sp>
      <p:sp>
        <p:nvSpPr>
          <p:cNvPr id="359" name="Google Shape;359;p34"/>
          <p:cNvSpPr txBox="1"/>
          <p:nvPr/>
        </p:nvSpPr>
        <p:spPr>
          <a:xfrm>
            <a:off x="4800728" y="2914650"/>
            <a:ext cx="15088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529D"/>
                </a:solidFill>
                <a:latin typeface="Arial"/>
                <a:ea typeface="Arial"/>
                <a:cs typeface="Arial"/>
                <a:sym typeface="Arial"/>
              </a:rPr>
              <a:t>refrigerator</a:t>
            </a:r>
            <a:endParaRPr sz="1100"/>
          </a:p>
        </p:txBody>
      </p:sp>
      <p:sp>
        <p:nvSpPr>
          <p:cNvPr id="360" name="Google Shape;360;p34"/>
          <p:cNvSpPr txBox="1"/>
          <p:nvPr/>
        </p:nvSpPr>
        <p:spPr>
          <a:xfrm>
            <a:off x="4800728" y="3305556"/>
            <a:ext cx="1508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0.4%</a:t>
            </a:r>
            <a:endParaRPr sz="1100"/>
          </a:p>
        </p:txBody>
      </p:sp>
      <p:sp>
        <p:nvSpPr>
          <p:cNvPr id="361" name="Google Shape;361;p34"/>
          <p:cNvSpPr txBox="1"/>
          <p:nvPr/>
        </p:nvSpPr>
        <p:spPr>
          <a:xfrm>
            <a:off x="1234473" y="3977640"/>
            <a:ext cx="6721019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It predicts a likely next token from patterns learned during training.</a:t>
            </a:r>
            <a:endParaRPr sz="1100"/>
          </a:p>
        </p:txBody>
      </p:sp>
      <p:sp>
        <p:nvSpPr>
          <p:cNvPr id="362" name="Google Shape;362;p34"/>
          <p:cNvSpPr txBox="1"/>
          <p:nvPr/>
        </p:nvSpPr>
        <p:spPr>
          <a:xfrm>
            <a:off x="8366983" y="4855464"/>
            <a:ext cx="3086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A1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5"/>
          <p:cNvSpPr txBox="1"/>
          <p:nvPr/>
        </p:nvSpPr>
        <p:spPr>
          <a:xfrm>
            <a:off x="445782" y="260604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10 • REALITY CHECK</a:t>
            </a:r>
            <a:endParaRPr sz="1100"/>
          </a:p>
        </p:txBody>
      </p:sp>
      <p:sp>
        <p:nvSpPr>
          <p:cNvPr id="368" name="Google Shape;368;p35"/>
          <p:cNvSpPr txBox="1"/>
          <p:nvPr/>
        </p:nvSpPr>
        <p:spPr>
          <a:xfrm>
            <a:off x="445782" y="534924"/>
            <a:ext cx="822981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AI can be wrong.</a:t>
            </a:r>
            <a:endParaRPr sz="1100"/>
          </a:p>
        </p:txBody>
      </p:sp>
      <p:sp>
        <p:nvSpPr>
          <p:cNvPr id="369" name="Google Shape;369;p35"/>
          <p:cNvSpPr txBox="1"/>
          <p:nvPr/>
        </p:nvSpPr>
        <p:spPr>
          <a:xfrm>
            <a:off x="466356" y="1062990"/>
            <a:ext cx="80926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The useful question is: why?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A12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 txBox="1"/>
          <p:nvPr/>
        </p:nvSpPr>
        <p:spPr>
          <a:xfrm>
            <a:off x="445782" y="260604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2DCFF"/>
                </a:solidFill>
                <a:latin typeface="Arial"/>
                <a:ea typeface="Arial"/>
                <a:cs typeface="Arial"/>
                <a:sym typeface="Arial"/>
              </a:rPr>
              <a:t>10 • REALITY CHECK</a:t>
            </a:r>
            <a:endParaRPr sz="1100"/>
          </a:p>
        </p:txBody>
      </p:sp>
      <p:sp>
        <p:nvSpPr>
          <p:cNvPr id="375" name="Google Shape;375;p36"/>
          <p:cNvSpPr txBox="1"/>
          <p:nvPr/>
        </p:nvSpPr>
        <p:spPr>
          <a:xfrm>
            <a:off x="445782" y="534924"/>
            <a:ext cx="822981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AI can be wrong.</a:t>
            </a:r>
            <a:endParaRPr sz="1100"/>
          </a:p>
        </p:txBody>
      </p:sp>
      <p:sp>
        <p:nvSpPr>
          <p:cNvPr id="376" name="Google Shape;376;p36"/>
          <p:cNvSpPr txBox="1"/>
          <p:nvPr/>
        </p:nvSpPr>
        <p:spPr>
          <a:xfrm>
            <a:off x="466356" y="1062990"/>
            <a:ext cx="80926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The useful question is: why?</a:t>
            </a:r>
            <a:endParaRPr sz="1100"/>
          </a:p>
        </p:txBody>
      </p:sp>
      <p:sp>
        <p:nvSpPr>
          <p:cNvPr id="377" name="Google Shape;377;p36"/>
          <p:cNvSpPr/>
          <p:nvPr/>
        </p:nvSpPr>
        <p:spPr>
          <a:xfrm>
            <a:off x="480073" y="1680210"/>
            <a:ext cx="3909164" cy="925830"/>
          </a:xfrm>
          <a:prstGeom prst="roundRect">
            <a:avLst>
              <a:gd fmla="val 16667" name="adj"/>
            </a:avLst>
          </a:prstGeom>
          <a:solidFill>
            <a:srgbClr val="111522"/>
          </a:solidFill>
          <a:ln cap="flat" cmpd="sng" w="9525">
            <a:solidFill>
              <a:srgbClr val="FF53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6"/>
          <p:cNvSpPr txBox="1"/>
          <p:nvPr/>
        </p:nvSpPr>
        <p:spPr>
          <a:xfrm>
            <a:off x="651527" y="1831086"/>
            <a:ext cx="1131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5353"/>
                </a:solidFill>
                <a:latin typeface="Arial"/>
                <a:ea typeface="Arial"/>
                <a:cs typeface="Arial"/>
                <a:sym typeface="Arial"/>
              </a:rPr>
              <a:t>BAD DATA</a:t>
            </a:r>
            <a:endParaRPr sz="1100"/>
          </a:p>
        </p:txBody>
      </p:sp>
      <p:sp>
        <p:nvSpPr>
          <p:cNvPr id="379" name="Google Shape;379;p36"/>
          <p:cNvSpPr txBox="1"/>
          <p:nvPr/>
        </p:nvSpPr>
        <p:spPr>
          <a:xfrm>
            <a:off x="1714546" y="1796796"/>
            <a:ext cx="246894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The examples don't represent the real world.</a:t>
            </a:r>
            <a:endParaRPr sz="1100"/>
          </a:p>
        </p:txBody>
      </p:sp>
      <p:sp>
        <p:nvSpPr>
          <p:cNvPr id="380" name="Google Shape;380;p36"/>
          <p:cNvSpPr/>
          <p:nvPr/>
        </p:nvSpPr>
        <p:spPr>
          <a:xfrm>
            <a:off x="4697855" y="1680210"/>
            <a:ext cx="3909164" cy="925830"/>
          </a:xfrm>
          <a:prstGeom prst="roundRect">
            <a:avLst>
              <a:gd fmla="val 16667" name="adj"/>
            </a:avLst>
          </a:prstGeom>
          <a:solidFill>
            <a:srgbClr val="111522"/>
          </a:solidFill>
          <a:ln cap="flat" cmpd="sng" w="9525">
            <a:solidFill>
              <a:srgbClr val="FFA4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6"/>
          <p:cNvSpPr txBox="1"/>
          <p:nvPr/>
        </p:nvSpPr>
        <p:spPr>
          <a:xfrm>
            <a:off x="4869310" y="1831086"/>
            <a:ext cx="1131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A448"/>
                </a:solidFill>
                <a:latin typeface="Arial"/>
                <a:ea typeface="Arial"/>
                <a:cs typeface="Arial"/>
                <a:sym typeface="Arial"/>
              </a:rPr>
              <a:t>BIAS</a:t>
            </a:r>
            <a:endParaRPr sz="1100"/>
          </a:p>
        </p:txBody>
      </p:sp>
      <p:sp>
        <p:nvSpPr>
          <p:cNvPr id="382" name="Google Shape;382;p36"/>
          <p:cNvSpPr txBox="1"/>
          <p:nvPr/>
        </p:nvSpPr>
        <p:spPr>
          <a:xfrm>
            <a:off x="5932328" y="1796796"/>
            <a:ext cx="246894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The model finds a shortcut we didn't intend.</a:t>
            </a:r>
            <a:endParaRPr sz="1100"/>
          </a:p>
        </p:txBody>
      </p:sp>
      <p:sp>
        <p:nvSpPr>
          <p:cNvPr id="383" name="Google Shape;383;p36"/>
          <p:cNvSpPr/>
          <p:nvPr/>
        </p:nvSpPr>
        <p:spPr>
          <a:xfrm>
            <a:off x="480073" y="2811779"/>
            <a:ext cx="3909164" cy="925830"/>
          </a:xfrm>
          <a:prstGeom prst="roundRect">
            <a:avLst>
              <a:gd fmla="val 16667" name="adj"/>
            </a:avLst>
          </a:prstGeom>
          <a:solidFill>
            <a:srgbClr val="111522"/>
          </a:solidFill>
          <a:ln cap="flat" cmpd="sng" w="9525">
            <a:solidFill>
              <a:srgbClr val="97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6"/>
          <p:cNvSpPr txBox="1"/>
          <p:nvPr/>
        </p:nvSpPr>
        <p:spPr>
          <a:xfrm>
            <a:off x="651527" y="2962655"/>
            <a:ext cx="1131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975CFF"/>
                </a:solidFill>
                <a:latin typeface="Arial"/>
                <a:ea typeface="Arial"/>
                <a:cs typeface="Arial"/>
                <a:sym typeface="Arial"/>
              </a:rPr>
              <a:t>OVERFITTING</a:t>
            </a:r>
            <a:endParaRPr sz="1100"/>
          </a:p>
        </p:txBody>
      </p:sp>
      <p:sp>
        <p:nvSpPr>
          <p:cNvPr id="385" name="Google Shape;385;p36"/>
          <p:cNvSpPr txBox="1"/>
          <p:nvPr/>
        </p:nvSpPr>
        <p:spPr>
          <a:xfrm>
            <a:off x="1714546" y="2928365"/>
            <a:ext cx="246894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It learns training examples too closely.</a:t>
            </a:r>
            <a:endParaRPr sz="1100"/>
          </a:p>
        </p:txBody>
      </p:sp>
      <p:sp>
        <p:nvSpPr>
          <p:cNvPr id="386" name="Google Shape;386;p36"/>
          <p:cNvSpPr/>
          <p:nvPr/>
        </p:nvSpPr>
        <p:spPr>
          <a:xfrm>
            <a:off x="4697855" y="2811779"/>
            <a:ext cx="3909164" cy="925830"/>
          </a:xfrm>
          <a:prstGeom prst="roundRect">
            <a:avLst>
              <a:gd fmla="val 16667" name="adj"/>
            </a:avLst>
          </a:prstGeom>
          <a:solidFill>
            <a:srgbClr val="111522"/>
          </a:solidFill>
          <a:ln cap="flat" cmpd="sng" w="9525">
            <a:solidFill>
              <a:srgbClr val="ACFF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6"/>
          <p:cNvSpPr txBox="1"/>
          <p:nvPr/>
        </p:nvSpPr>
        <p:spPr>
          <a:xfrm>
            <a:off x="4869310" y="2962655"/>
            <a:ext cx="1131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ACFF59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endParaRPr sz="1100"/>
          </a:p>
        </p:txBody>
      </p:sp>
      <p:sp>
        <p:nvSpPr>
          <p:cNvPr id="388" name="Google Shape;388;p36"/>
          <p:cNvSpPr txBox="1"/>
          <p:nvPr/>
        </p:nvSpPr>
        <p:spPr>
          <a:xfrm>
            <a:off x="5932328" y="2928365"/>
            <a:ext cx="246894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Unseen examples tell us if it generalises.</a:t>
            </a:r>
            <a:endParaRPr sz="1100"/>
          </a:p>
        </p:txBody>
      </p:sp>
      <p:sp>
        <p:nvSpPr>
          <p:cNvPr id="389" name="Google Shape;389;p36"/>
          <p:cNvSpPr txBox="1"/>
          <p:nvPr/>
        </p:nvSpPr>
        <p:spPr>
          <a:xfrm>
            <a:off x="857273" y="4114800"/>
            <a:ext cx="7475419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GOOD AI ENGINEERING = TRAIN → TEST → FIND FAILURE → IMPROVE</a:t>
            </a:r>
            <a:endParaRPr sz="1100"/>
          </a:p>
        </p:txBody>
      </p:sp>
      <p:sp>
        <p:nvSpPr>
          <p:cNvPr id="390" name="Google Shape;390;p36"/>
          <p:cNvSpPr txBox="1"/>
          <p:nvPr/>
        </p:nvSpPr>
        <p:spPr>
          <a:xfrm>
            <a:off x="8366983" y="4855464"/>
            <a:ext cx="3086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A5AEC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